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E2761"/>
                </a:solidFill>
                <a:latin typeface="Calibri"/>
              </a:defRPr>
            </a:pPr>
            <a:r>
              <a:rPr sz="1300" b="0" i="0" u="none" strike="noStrike">
                <a:solidFill>
                  <a:srgbClr val="1E2761"/>
                </a:solidFill>
                <a:latin typeface="Calibri"/>
              </a:rPr>
              <a:t>CMS improper payment estimates, FY2025 ($ billions)</a:t>
            </a:r>
          </a:p>
        </c:rich>
      </c:tx>
      <c:layout/>
      <c:overlay val="0"/>
    </c:title>
    <c:autoTitleDeleted val="0"/>
    <c:plotArea>
      <c:layout/>
      <c:barChart>
        <c:barDir val="col"/>
        <c:grouping val="clustered"/>
        <c:varyColors val="0"/>
        <c:ser>
          <c:idx val="0"/>
          <c:order val="0"/>
          <c:tx>
            <c:strRef>
              <c:f>Sheet1!$B$1</c:f>
              <c:strCache>
                <c:ptCount val="1"/>
                <c:pt idx="0">
                  <c:v>Improper payments, FY2025 ($B)</c:v>
                </c:pt>
              </c:strCache>
            </c:strRef>
          </c:tx>
          <c:spPr>
            <a:solidFill>
              <a:srgbClr val="1E2761"/>
            </a:solidFill>
            <a:effectLst/>
          </c:spPr>
          <c:invertIfNegative val="0"/>
          <c:dLbls>
            <c:numFmt formatCode="$0.0" sourceLinked="0"/>
            <c:txPr>
              <a:bodyPr/>
              <a:lstStyle/>
              <a:p>
                <a:pPr>
                  <a:defRPr b="0" i="0" strike="noStrike" sz="1200" u="none">
                    <a:solidFill>
                      <a:srgbClr val="1F2937"/>
                    </a:solidFill>
                    <a:latin typeface="Arial"/>
                  </a:defRPr>
                </a:pPr>
              </a:p>
            </c:txPr>
            <c:showLegendKey val="0"/>
            <c:showVal val="1"/>
            <c:showCatName val="0"/>
            <c:showSerName val="0"/>
            <c:showPercent val="0"/>
            <c:showBubbleSize val="0"/>
            <c:showLeaderLines val="0"/>
          </c:dLbls>
          <c:cat>
            <c:multiLvlStrRef>
              <c:f>Sheet1!$A$2:$A$5</c:f>
              <c:multiLvlStrCache>
                <c:ptCount val="4"/>
                <c:lvl>
                  <c:pt idx="0">
                    <c:v>Medicaid</c:v>
                  </c:pt>
                  <c:pt idx="1">
                    <c:v>Medicare FFS</c:v>
                  </c:pt>
                  <c:pt idx="2">
                    <c:v>Medicare Part C</c:v>
                  </c:pt>
                  <c:pt idx="3">
                    <c:v>Medicare Part D</c:v>
                  </c:pt>
                </c:lvl>
              </c:multiLvlStrCache>
            </c:multiLvlStrRef>
          </c:cat>
          <c:val>
            <c:numRef>
              <c:f>Sheet1!$B$2:$B$5</c:f>
              <c:numCache>
                <c:formatCode>General</c:formatCode>
                <c:ptCount val="4"/>
                <c:pt idx="0">
                  <c:v>37.39</c:v>
                </c:pt>
                <c:pt idx="1">
                  <c:v>28.83</c:v>
                </c:pt>
                <c:pt idx="2">
                  <c:v>23.67</c:v>
                </c:pt>
                <c:pt idx="3">
                  <c:v>4.23</c:v>
                </c:pt>
              </c:numCache>
            </c:numRef>
          </c:val>
        </c:ser>
        <c:dLbls>
          <c:numFmt formatCode="$0.0" sourceLinked="0"/>
          <c:txPr>
            <a:bodyPr/>
            <a:lstStyle/>
            <a:p>
              <a:pPr>
                <a:defRPr b="0" i="0" strike="noStrike" sz="1200" u="none">
                  <a:solidFill>
                    <a:srgbClr val="1F2937"/>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F2937"/>
                </a:solidFill>
                <a:latin typeface="Calibri"/>
              </a:defRPr>
            </a:pPr>
            <a:endParaRPr lang="en-US"/>
          </a:p>
        </c:txPr>
        <c:crossAx val="2094734552"/>
        <c:crosses val="autoZero"/>
        <c:auto val="1"/>
        <c:lblAlgn val="ctr"/>
        <c:noMultiLvlLbl val="1"/>
      </c:catAx>
      <c:valAx>
        <c:axId val="2094734552"/>
        <c:scaling>
          <c:orientation val="minMax"/>
          <c:max val="45"/>
        </c:scaling>
        <c:delete val="0"/>
        <c:axPos val="l"/>
        <c:majorGridlines>
          <c:spPr>
            <a:ln w="6350" cap="flat">
              <a:solidFill>
                <a:srgbClr val="E5E7EB"/>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95959"/>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Penghua Wang. I'm a PhD candidate in data science with a master's in statistics, and this is my Cotiviti intern assessment. I chose the topic clinical decision making and pattern recognition in health care, and I focused it on payment integrity: how statistics, machine learning, and now reasoning agents find the claims and providers that deserve a closer look. I'll cover the report in about two minutes, then show a working proof of concept.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CMS estimated improper payments of 28.8 billion dollars in Medicare fee-for-service and 37.4 billion in Medicaid for fiscal 2025. Improper does not mean fraudulent, but fraud alone is estimated at three to ten percent of spending, and enforcement is now analytics-led: the 2025 national takedown charged 324 defendants with 14.6 billion in intended loss. And when skilled-nursing denials were appealed, OIG found Medicare Advantage plans overturned 95 percent of them, which is why overturn rate matters later in this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topic breaks into five questions. Classification: is this claim payable as billed? Prediction: which claims will fail a record review? Inference: is this provider different from peers by more than chance? Clustering: who shares a billing profile? And time series: when did behavior change? The new layer on top is chain reasoning, where a language model with tools assembles evidence and explains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Rules came first: precise, but blind across claims and months. Today, statistical models rank providers, and a 2026 study on seven million Medicare claims showed explainable ensembles give a five-fold lift in targeting. The future is coexistence, not replacement: rules, statistical ranking, an agent that assembles evidence, a critic that checks it, and a human who decides.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opportunities: explainable triage, emerging-scheme discovery, audit copilots, and cross-payer signal. The threats: false positives cost reviewer time and provider goodwill; agents push work through, and a 2026 study found frontier browser agents almost never withheld a deficient submission; bias can cluster flags on safety-net practices; and AI-assisted denials are already in court.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Cotiviti already runs 360 Pattern Review, Clinical Chart Validation, and an AI governance program, so my options are deltas, not new products. One: an evidence-and-abstention layer for existing leads, run in shadow mode, that returns cited facts and marks each packet review or withhold. Two: time-aware change-point signals added to provider scoring. Three: a release gate for every model and agent, with overturn rate as the headline metric, because OIG found Medicare Advantage plans overturned ninety-five percent of appealed skilled-nursing denials. Start with three and one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proof of concept is a small version of options two and one, on synthetic claims. It generates about 295 thousand claim lines for 240 providers over 24 months, with fifteen injected anomalies. Three complementary detectors run: peer-group robust z-scores within specialty, time-series spike and change-point tests, and an Isolation Forest. Providers rank by how many detectors agree. Then a deterministic critic checks every packet and marks it review or withhold. The scorecard uses the injected ground truth only for scoring: fourteen of fifteen designed anomalies in the top fifteen on this seed. That is a wiring check, not production accuracy, so the robustness mode reports the spread across twenty seeds.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dashboard shows the same story. Panel A is the peer view, with flagged providers circled. Panel B is the consensus ranking. Panel C is a volume spike that a snapshot would miss, and panel D is an E/M level shift with the detected change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an auditor sees for a withheld packet: the pattern, the governing policy, the failed check, and no case opened. A review packet adds the evidence to request and a next step. With the optional LLM flag, a model writes the prose, but only for packets the critic passed, and the statistics still decide.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Payment integrity is moving from rules to models to reasoning agents. The winners will explain every flag, measure every model, and give agents a critic and a withhold path. Everything, including report, code, slides, and this video, is in the repository at github.com/StatGuyOU/cotiviti-intern-assessment.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5212080" y="914400"/>
            <a:ext cx="3474720" cy="3474720"/>
          </a:xfrm>
          <a:prstGeom prst="ellipse">
            <a:avLst/>
          </a:prstGeom>
          <a:ln w="12700">
            <a:solidFill>
              <a:srgbClr val="4C5B9A"/>
            </a:solidFill>
            <a:prstDash val="solid"/>
          </a:ln>
        </p:spPr>
      </p:sp>
      <p:sp>
        <p:nvSpPr>
          <p:cNvPr id="3" name="Shape 1"/>
          <p:cNvSpPr/>
          <p:nvPr/>
        </p:nvSpPr>
        <p:spPr>
          <a:xfrm>
            <a:off x="5802782" y="1505102"/>
            <a:ext cx="2293315" cy="2293315"/>
          </a:xfrm>
          <a:prstGeom prst="ellipse">
            <a:avLst/>
          </a:prstGeom>
          <a:ln w="12700">
            <a:solidFill>
              <a:srgbClr val="4C5B9A"/>
            </a:solidFill>
            <a:prstDash val="solid"/>
          </a:ln>
        </p:spPr>
      </p:sp>
      <p:sp>
        <p:nvSpPr>
          <p:cNvPr id="4" name="Shape 2"/>
          <p:cNvSpPr/>
          <p:nvPr/>
        </p:nvSpPr>
        <p:spPr>
          <a:xfrm>
            <a:off x="6376111" y="2078431"/>
            <a:ext cx="1146658" cy="1146658"/>
          </a:xfrm>
          <a:prstGeom prst="ellipse">
            <a:avLst/>
          </a:prstGeom>
          <a:ln w="12700">
            <a:solidFill>
              <a:srgbClr val="4C5B9A"/>
            </a:solidFill>
            <a:prstDash val="solid"/>
          </a:ln>
        </p:spPr>
      </p:sp>
      <p:sp>
        <p:nvSpPr>
          <p:cNvPr id="5" name="Shape 3"/>
          <p:cNvSpPr/>
          <p:nvPr/>
        </p:nvSpPr>
        <p:spPr>
          <a:xfrm>
            <a:off x="7644384" y="1792224"/>
            <a:ext cx="164592" cy="164592"/>
          </a:xfrm>
          <a:prstGeom prst="ellipse">
            <a:avLst/>
          </a:prstGeom>
          <a:solidFill>
            <a:srgbClr val="B2182B"/>
          </a:solidFill>
          <a:ln w="12700">
            <a:solidFill>
              <a:srgbClr val="B2182B"/>
            </a:solidFill>
            <a:prstDash val="solid"/>
          </a:ln>
        </p:spPr>
      </p:sp>
      <p:sp>
        <p:nvSpPr>
          <p:cNvPr id="6" name="Text 4"/>
          <p:cNvSpPr txBox="1"/>
          <p:nvPr/>
        </p:nvSpPr>
        <p:spPr>
          <a:xfrm>
            <a:off x="548640" y="1143000"/>
            <a:ext cx="5394960" cy="1371600"/>
          </a:xfrm>
          <a:prstGeom prst="rect">
            <a:avLst/>
          </a:prstGeom>
          <a:noFill/>
          <a:ln/>
        </p:spPr>
        <p:txBody>
          <a:bodyPr wrap="square" lIns="0" tIns="0" rIns="0" bIns="0" rtlCol="0" anchor="t"/>
          <a:lstStyle/>
          <a:p>
            <a:pPr indent="0" marL="0">
              <a:buNone/>
            </a:pPr>
            <a:r>
              <a:rPr lang="en-US" sz="3600" b="1" dirty="0">
                <a:solidFill>
                  <a:srgbClr val="FFFFFF"/>
                </a:solidFill>
                <a:latin typeface="Calibri" pitchFamily="34" charset="0"/>
                <a:ea typeface="Calibri" pitchFamily="34" charset="-122"/>
                <a:cs typeface="Calibri" pitchFamily="34" charset="-120"/>
              </a:rPr>
              <a:t>Pattern Recognition for Payment Integrity</a:t>
            </a:r>
            <a:endParaRPr lang="en-US" sz="3600" dirty="0"/>
          </a:p>
        </p:txBody>
      </p:sp>
      <p:sp>
        <p:nvSpPr>
          <p:cNvPr id="7" name="Text 5"/>
          <p:cNvSpPr txBox="1"/>
          <p:nvPr/>
        </p:nvSpPr>
        <p:spPr>
          <a:xfrm>
            <a:off x="548640" y="2560320"/>
            <a:ext cx="5394960" cy="457200"/>
          </a:xfrm>
          <a:prstGeom prst="rect">
            <a:avLst/>
          </a:prstGeom>
          <a:noFill/>
          <a:ln/>
        </p:spPr>
        <p:txBody>
          <a:bodyPr wrap="square" lIns="0" tIns="0" rIns="0" bIns="0" rtlCol="0" anchor="ctr"/>
          <a:lstStyle/>
          <a:p>
            <a:pPr indent="0" marL="0">
              <a:buNone/>
            </a:pPr>
            <a:r>
              <a:rPr lang="en-US" sz="2000" dirty="0">
                <a:solidFill>
                  <a:srgbClr val="CADCFC"/>
                </a:solidFill>
                <a:latin typeface="Calibri" pitchFamily="34" charset="0"/>
                <a:ea typeface="Calibri" pitchFamily="34" charset="-122"/>
                <a:cs typeface="Calibri" pitchFamily="34" charset="-120"/>
              </a:rPr>
              <a:t>From rules to reasoning agents</a:t>
            </a:r>
            <a:endParaRPr lang="en-US" sz="2000" dirty="0"/>
          </a:p>
        </p:txBody>
      </p:sp>
      <p:sp>
        <p:nvSpPr>
          <p:cNvPr id="8" name="Text 6"/>
          <p:cNvSpPr txBox="1"/>
          <p:nvPr/>
        </p:nvSpPr>
        <p:spPr>
          <a:xfrm>
            <a:off x="548640" y="3886200"/>
            <a:ext cx="5852160" cy="292608"/>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Topic: Clinical Decision Making and Pattern Recognition in Health Care</a:t>
            </a:r>
            <a:endParaRPr lang="en-US" sz="1200" dirty="0"/>
          </a:p>
        </p:txBody>
      </p:sp>
      <p:sp>
        <p:nvSpPr>
          <p:cNvPr id="9" name="Text 7"/>
          <p:cNvSpPr txBox="1"/>
          <p:nvPr/>
        </p:nvSpPr>
        <p:spPr>
          <a:xfrm>
            <a:off x="548640" y="4206240"/>
            <a:ext cx="6035040" cy="29260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Penghua Wang  |  Ph.D. Candidate, Data Science and Analytics, University of Oklahoma</a:t>
            </a:r>
            <a:endParaRPr lang="en-US" sz="1200" dirty="0"/>
          </a:p>
        </p:txBody>
      </p:sp>
      <p:sp>
        <p:nvSpPr>
          <p:cNvPr id="10" name="Text 8"/>
          <p:cNvSpPr txBox="1"/>
          <p:nvPr/>
        </p:nvSpPr>
        <p:spPr>
          <a:xfrm>
            <a:off x="548640" y="4498848"/>
            <a:ext cx="5852160" cy="292608"/>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Prepared for Cotiviti, Inc.  |  September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7680960" cy="548640"/>
          </a:xfrm>
          <a:prstGeom prst="rect">
            <a:avLst/>
          </a:prstGeom>
          <a:noFill/>
          <a:ln/>
        </p:spPr>
        <p:txBody>
          <a:bodyPr wrap="square" lIns="0" tIns="0" rIns="0" bIns="0" rtlCol="0" anchor="t"/>
          <a:lstStyle/>
          <a:p>
            <a:pPr indent="0" marL="0">
              <a:buNone/>
            </a:pPr>
            <a:r>
              <a:rPr lang="en-US" sz="3000" b="1" dirty="0">
                <a:solidFill>
                  <a:srgbClr val="1E2761"/>
                </a:solidFill>
                <a:latin typeface="Calibri" pitchFamily="34" charset="0"/>
                <a:ea typeface="Calibri" pitchFamily="34" charset="-122"/>
                <a:cs typeface="Calibri" pitchFamily="34" charset="-120"/>
              </a:rPr>
              <a:t>Why it matters</a:t>
            </a:r>
            <a:endParaRPr lang="en-US" sz="3000" dirty="0"/>
          </a:p>
        </p:txBody>
      </p:sp>
      <p:sp>
        <p:nvSpPr>
          <p:cNvPr id="3" name="Text 1"/>
          <p:cNvSpPr txBox="1"/>
          <p:nvPr/>
        </p:nvSpPr>
        <p:spPr>
          <a:xfrm>
            <a:off x="457200" y="804672"/>
            <a:ext cx="7680960" cy="292608"/>
          </a:xfrm>
          <a:prstGeom prst="rect">
            <a:avLst/>
          </a:prstGeom>
          <a:noFill/>
          <a:ln/>
        </p:spPr>
        <p:txBody>
          <a:bodyPr wrap="square" lIns="0" tIns="0" rIns="0" bIns="0" rtlCol="0" anchor="t"/>
          <a:lstStyle/>
          <a:p>
            <a:pPr indent="0" marL="0">
              <a:buNone/>
            </a:pPr>
            <a:r>
              <a:rPr lang="en-US" sz="1300" dirty="0">
                <a:solidFill>
                  <a:srgbClr val="595959"/>
                </a:solidFill>
                <a:latin typeface="Calibri" pitchFamily="34" charset="0"/>
                <a:ea typeface="Calibri" pitchFamily="34" charset="-122"/>
                <a:cs typeface="Calibri" pitchFamily="34" charset="-120"/>
              </a:rPr>
              <a:t>Improper payment is not a measure of fraud; fraud alone is estimated at 3-10% of spending (NHCAA)</a:t>
            </a:r>
            <a:endParaRPr lang="en-US" sz="1300" dirty="0"/>
          </a:p>
        </p:txBody>
      </p:sp>
      <p:sp>
        <p:nvSpPr>
          <p:cNvPr id="4" name="Shape 2"/>
          <p:cNvSpPr/>
          <p:nvPr/>
        </p:nvSpPr>
        <p:spPr>
          <a:xfrm>
            <a:off x="8247888" y="246888"/>
            <a:ext cx="512064" cy="512064"/>
          </a:xfrm>
          <a:prstGeom prst="ellipse">
            <a:avLst/>
          </a:prstGeom>
          <a:ln w="12700">
            <a:solidFill>
              <a:srgbClr val="CADCFC"/>
            </a:solidFill>
            <a:prstDash val="solid"/>
          </a:ln>
        </p:spPr>
      </p:sp>
      <p:sp>
        <p:nvSpPr>
          <p:cNvPr id="5" name="Shape 3"/>
          <p:cNvSpPr/>
          <p:nvPr/>
        </p:nvSpPr>
        <p:spPr>
          <a:xfrm>
            <a:off x="8334939" y="333939"/>
            <a:ext cx="337962" cy="337962"/>
          </a:xfrm>
          <a:prstGeom prst="ellipse">
            <a:avLst/>
          </a:prstGeom>
          <a:ln w="12700">
            <a:solidFill>
              <a:srgbClr val="CADCFC"/>
            </a:solidFill>
            <a:prstDash val="solid"/>
          </a:ln>
        </p:spPr>
      </p:sp>
      <p:sp>
        <p:nvSpPr>
          <p:cNvPr id="6" name="Shape 4"/>
          <p:cNvSpPr/>
          <p:nvPr/>
        </p:nvSpPr>
        <p:spPr>
          <a:xfrm>
            <a:off x="8419429" y="418429"/>
            <a:ext cx="168981" cy="168981"/>
          </a:xfrm>
          <a:prstGeom prst="ellipse">
            <a:avLst/>
          </a:prstGeom>
          <a:ln w="12700">
            <a:solidFill>
              <a:srgbClr val="CADCFC"/>
            </a:solidFill>
            <a:prstDash val="solid"/>
          </a:ln>
        </p:spPr>
      </p:sp>
      <p:sp>
        <p:nvSpPr>
          <p:cNvPr id="7" name="Shape 5"/>
          <p:cNvSpPr/>
          <p:nvPr/>
        </p:nvSpPr>
        <p:spPr>
          <a:xfrm>
            <a:off x="8531352" y="329184"/>
            <a:ext cx="164592" cy="164592"/>
          </a:xfrm>
          <a:prstGeom prst="ellipse">
            <a:avLst/>
          </a:prstGeom>
          <a:solidFill>
            <a:srgbClr val="B2182B"/>
          </a:solidFill>
          <a:ln w="12700">
            <a:solidFill>
              <a:srgbClr val="B2182B"/>
            </a:solidFill>
            <a:prstDash val="solid"/>
          </a:ln>
        </p:spPr>
      </p:sp>
      <p:graphicFrame>
        <p:nvGraphicFramePr>
          <p:cNvPr id="8" name="Chart 0" descr=""/>
          <p:cNvGraphicFramePr/>
          <p:nvPr/>
        </p:nvGraphicFramePr>
        <p:xfrm>
          <a:off x="457200" y="1188720"/>
          <a:ext cx="4754880" cy="3566160"/>
        </p:xfrm>
        <a:graphic xmlns:a="http://schemas.openxmlformats.org/drawingml/2006/main">
          <a:graphicData uri="http://schemas.openxmlformats.org/drawingml/2006/chart">
            <c:chart xmlns:c="http://schemas.openxmlformats.org/drawingml/2006/chart" r:id="rId1"/>
          </a:graphicData>
        </a:graphic>
      </p:graphicFrame>
      <p:sp>
        <p:nvSpPr>
          <p:cNvPr id="9" name="Shape 6"/>
          <p:cNvSpPr/>
          <p:nvPr/>
        </p:nvSpPr>
        <p:spPr>
          <a:xfrm>
            <a:off x="5486400" y="1188720"/>
            <a:ext cx="3200400" cy="1645920"/>
          </a:xfrm>
          <a:prstGeom prst="roundRect">
            <a:avLst>
              <a:gd name="adj" fmla="val 4444"/>
            </a:avLst>
          </a:prstGeom>
          <a:solidFill>
            <a:srgbClr val="F2F5FB"/>
          </a:solidFill>
          <a:ln w="12700">
            <a:solidFill>
              <a:srgbClr val="F2F5FB"/>
            </a:solidFill>
            <a:prstDash val="solid"/>
          </a:ln>
        </p:spPr>
      </p:sp>
      <p:sp>
        <p:nvSpPr>
          <p:cNvPr id="10" name="Text 7"/>
          <p:cNvSpPr txBox="1"/>
          <p:nvPr/>
        </p:nvSpPr>
        <p:spPr>
          <a:xfrm>
            <a:off x="5715000" y="1298448"/>
            <a:ext cx="2743200" cy="640080"/>
          </a:xfrm>
          <a:prstGeom prst="rect">
            <a:avLst/>
          </a:prstGeom>
          <a:noFill/>
          <a:ln/>
        </p:spPr>
        <p:txBody>
          <a:bodyPr wrap="square" lIns="0" tIns="0" rIns="0" bIns="0" rtlCol="0" anchor="ctr"/>
          <a:lstStyle/>
          <a:p>
            <a:pPr indent="0" marL="0">
              <a:buNone/>
            </a:pPr>
            <a:r>
              <a:rPr lang="en-US" sz="3600" b="1" dirty="0">
                <a:solidFill>
                  <a:srgbClr val="B2182B"/>
                </a:solidFill>
                <a:latin typeface="Calibri" pitchFamily="34" charset="0"/>
                <a:ea typeface="Calibri" pitchFamily="34" charset="-122"/>
                <a:cs typeface="Calibri" pitchFamily="34" charset="-120"/>
              </a:rPr>
              <a:t>$14.6B</a:t>
            </a:r>
            <a:endParaRPr lang="en-US" sz="3600" dirty="0"/>
          </a:p>
        </p:txBody>
      </p:sp>
      <p:sp>
        <p:nvSpPr>
          <p:cNvPr id="11" name="Text 8"/>
          <p:cNvSpPr txBox="1"/>
          <p:nvPr/>
        </p:nvSpPr>
        <p:spPr>
          <a:xfrm>
            <a:off x="5715000" y="1965960"/>
            <a:ext cx="2788920" cy="822960"/>
          </a:xfrm>
          <a:prstGeom prst="rect">
            <a:avLst/>
          </a:prstGeom>
          <a:noFill/>
          <a:ln/>
        </p:spPr>
        <p:txBody>
          <a:bodyPr wrap="square" lIns="0" tIns="0" rIns="0" bIns="0" rtlCol="0" anchor="t"/>
          <a:lstStyle/>
          <a:p>
            <a:pPr indent="0" marL="0">
              <a:buNone/>
            </a:pPr>
            <a:r>
              <a:rPr lang="en-US" sz="1150" dirty="0">
                <a:solidFill>
                  <a:srgbClr val="1F2937"/>
                </a:solidFill>
                <a:latin typeface="Calibri" pitchFamily="34" charset="0"/>
                <a:ea typeface="Calibri" pitchFamily="34" charset="-122"/>
                <a:cs typeface="Calibri" pitchFamily="34" charset="-120"/>
              </a:rPr>
              <a:t>Intended loss in the 2025 National Health Care Fraud Takedown: 324 defendants; proactive analytics stopped about $4.4B</a:t>
            </a:r>
            <a:endParaRPr lang="en-US" sz="1150" dirty="0"/>
          </a:p>
        </p:txBody>
      </p:sp>
      <p:sp>
        <p:nvSpPr>
          <p:cNvPr id="12" name="Shape 9"/>
          <p:cNvSpPr/>
          <p:nvPr/>
        </p:nvSpPr>
        <p:spPr>
          <a:xfrm>
            <a:off x="5486400" y="3017520"/>
            <a:ext cx="3200400" cy="1645920"/>
          </a:xfrm>
          <a:prstGeom prst="roundRect">
            <a:avLst>
              <a:gd name="adj" fmla="val 4444"/>
            </a:avLst>
          </a:prstGeom>
          <a:solidFill>
            <a:srgbClr val="F2F5FB"/>
          </a:solidFill>
          <a:ln w="12700">
            <a:solidFill>
              <a:srgbClr val="F2F5FB"/>
            </a:solidFill>
            <a:prstDash val="solid"/>
          </a:ln>
        </p:spPr>
      </p:sp>
      <p:sp>
        <p:nvSpPr>
          <p:cNvPr id="13" name="Text 10"/>
          <p:cNvSpPr txBox="1"/>
          <p:nvPr/>
        </p:nvSpPr>
        <p:spPr>
          <a:xfrm>
            <a:off x="5715000" y="3127248"/>
            <a:ext cx="2743200" cy="640080"/>
          </a:xfrm>
          <a:prstGeom prst="rect">
            <a:avLst/>
          </a:prstGeom>
          <a:noFill/>
          <a:ln/>
        </p:spPr>
        <p:txBody>
          <a:bodyPr wrap="square" lIns="0" tIns="0" rIns="0" bIns="0" rtlCol="0" anchor="ctr"/>
          <a:lstStyle/>
          <a:p>
            <a:pPr indent="0" marL="0">
              <a:buNone/>
            </a:pPr>
            <a:r>
              <a:rPr lang="en-US" sz="3600" b="1" dirty="0">
                <a:solidFill>
                  <a:srgbClr val="B2182B"/>
                </a:solidFill>
                <a:latin typeface="Calibri" pitchFamily="34" charset="0"/>
                <a:ea typeface="Calibri" pitchFamily="34" charset="-122"/>
                <a:cs typeface="Calibri" pitchFamily="34" charset="-120"/>
              </a:rPr>
              <a:t>95%</a:t>
            </a:r>
            <a:endParaRPr lang="en-US" sz="3600" dirty="0"/>
          </a:p>
        </p:txBody>
      </p:sp>
      <p:sp>
        <p:nvSpPr>
          <p:cNvPr id="14" name="Text 11"/>
          <p:cNvSpPr txBox="1"/>
          <p:nvPr/>
        </p:nvSpPr>
        <p:spPr>
          <a:xfrm>
            <a:off x="5715000" y="3794760"/>
            <a:ext cx="2788920" cy="822960"/>
          </a:xfrm>
          <a:prstGeom prst="rect">
            <a:avLst/>
          </a:prstGeom>
          <a:noFill/>
          <a:ln/>
        </p:spPr>
        <p:txBody>
          <a:bodyPr wrap="square" lIns="0" tIns="0" rIns="0" bIns="0" rtlCol="0" anchor="t"/>
          <a:lstStyle/>
          <a:p>
            <a:pPr indent="0" marL="0">
              <a:buNone/>
            </a:pPr>
            <a:r>
              <a:rPr lang="en-US" sz="1150" dirty="0">
                <a:solidFill>
                  <a:srgbClr val="1F2937"/>
                </a:solidFill>
                <a:latin typeface="Calibri" pitchFamily="34" charset="0"/>
                <a:ea typeface="Calibri" pitchFamily="34" charset="-122"/>
                <a:cs typeface="Calibri" pitchFamily="34" charset="-120"/>
              </a:rPr>
              <a:t>of appealed Medicare Advantage skilled-nursing prior-authorization denials were overturned (OIG, 2026)</a:t>
            </a:r>
            <a:endParaRPr lang="en-US" sz="1150" dirty="0"/>
          </a:p>
        </p:txBody>
      </p:sp>
      <p:sp>
        <p:nvSpPr>
          <p:cNvPr id="15" name="Text 12"/>
          <p:cNvSpPr txBox="1"/>
          <p:nvPr/>
        </p:nvSpPr>
        <p:spPr>
          <a:xfrm>
            <a:off x="457200" y="4800600"/>
            <a:ext cx="8229600" cy="274320"/>
          </a:xfrm>
          <a:prstGeom prst="rect">
            <a:avLst/>
          </a:prstGeom>
          <a:noFill/>
          <a:ln/>
        </p:spPr>
        <p:txBody>
          <a:bodyPr wrap="square" lIns="0" tIns="0" rIns="0" bIns="0" rtlCol="0" anchor="ctr"/>
          <a:lstStyle/>
          <a:p>
            <a:pPr indent="0" marL="0">
              <a:buNone/>
            </a:pPr>
            <a:r>
              <a:rPr lang="en-US" sz="900" dirty="0">
                <a:solidFill>
                  <a:srgbClr val="595959"/>
                </a:solidFill>
                <a:latin typeface="Calibri" pitchFamily="34" charset="0"/>
                <a:ea typeface="Calibri" pitchFamily="34" charset="-122"/>
                <a:cs typeface="Calibri" pitchFamily="34" charset="-120"/>
              </a:rPr>
              <a:t>Sources: CMS (2026) Fiscal Year 2025 Improper Payments Fact Sheet; U.S. Department of Justice (2025); HHS-OIG (2026) OEI-09-24-00331; NHCAA.</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7680960" cy="548640"/>
          </a:xfrm>
          <a:prstGeom prst="rect">
            <a:avLst/>
          </a:prstGeom>
          <a:noFill/>
          <a:ln/>
        </p:spPr>
        <p:txBody>
          <a:bodyPr wrap="square" lIns="0" tIns="0" rIns="0" bIns="0" rtlCol="0" anchor="t"/>
          <a:lstStyle/>
          <a:p>
            <a:pPr indent="0" marL="0">
              <a:buNone/>
            </a:pPr>
            <a:r>
              <a:rPr lang="en-US" sz="3000" b="1" dirty="0">
                <a:solidFill>
                  <a:srgbClr val="1E2761"/>
                </a:solidFill>
                <a:latin typeface="Calibri" pitchFamily="34" charset="0"/>
                <a:ea typeface="Calibri" pitchFamily="34" charset="-122"/>
                <a:cs typeface="Calibri" pitchFamily="34" charset="-120"/>
              </a:rPr>
              <a:t>The concept: five questions, one stack</a:t>
            </a:r>
            <a:endParaRPr lang="en-US" sz="3000" dirty="0"/>
          </a:p>
        </p:txBody>
      </p:sp>
      <p:sp>
        <p:nvSpPr>
          <p:cNvPr id="3" name="Text 1"/>
          <p:cNvSpPr txBox="1"/>
          <p:nvPr/>
        </p:nvSpPr>
        <p:spPr>
          <a:xfrm>
            <a:off x="457200" y="804672"/>
            <a:ext cx="7680960" cy="292608"/>
          </a:xfrm>
          <a:prstGeom prst="rect">
            <a:avLst/>
          </a:prstGeom>
          <a:noFill/>
          <a:ln/>
        </p:spPr>
        <p:txBody>
          <a:bodyPr wrap="square" lIns="0" tIns="0" rIns="0" bIns="0" rtlCol="0" anchor="t"/>
          <a:lstStyle/>
          <a:p>
            <a:pPr indent="0" marL="0">
              <a:buNone/>
            </a:pPr>
            <a:r>
              <a:rPr lang="en-US" sz="1300" dirty="0">
                <a:solidFill>
                  <a:srgbClr val="595959"/>
                </a:solidFill>
                <a:latin typeface="Calibri" pitchFamily="34" charset="0"/>
                <a:ea typeface="Calibri" pitchFamily="34" charset="-122"/>
                <a:cs typeface="Calibri" pitchFamily="34" charset="-120"/>
              </a:rPr>
              <a:t>Pattern recognition for treatment, payment and operations (TPO)</a:t>
            </a:r>
            <a:endParaRPr lang="en-US" sz="1300" dirty="0"/>
          </a:p>
        </p:txBody>
      </p:sp>
      <p:sp>
        <p:nvSpPr>
          <p:cNvPr id="4" name="Shape 2"/>
          <p:cNvSpPr/>
          <p:nvPr/>
        </p:nvSpPr>
        <p:spPr>
          <a:xfrm>
            <a:off x="8247888" y="246888"/>
            <a:ext cx="512064" cy="512064"/>
          </a:xfrm>
          <a:prstGeom prst="ellipse">
            <a:avLst/>
          </a:prstGeom>
          <a:ln w="12700">
            <a:solidFill>
              <a:srgbClr val="CADCFC"/>
            </a:solidFill>
            <a:prstDash val="solid"/>
          </a:ln>
        </p:spPr>
      </p:sp>
      <p:sp>
        <p:nvSpPr>
          <p:cNvPr id="5" name="Shape 3"/>
          <p:cNvSpPr/>
          <p:nvPr/>
        </p:nvSpPr>
        <p:spPr>
          <a:xfrm>
            <a:off x="8334939" y="333939"/>
            <a:ext cx="337962" cy="337962"/>
          </a:xfrm>
          <a:prstGeom prst="ellipse">
            <a:avLst/>
          </a:prstGeom>
          <a:ln w="12700">
            <a:solidFill>
              <a:srgbClr val="CADCFC"/>
            </a:solidFill>
            <a:prstDash val="solid"/>
          </a:ln>
        </p:spPr>
      </p:sp>
      <p:sp>
        <p:nvSpPr>
          <p:cNvPr id="6" name="Shape 4"/>
          <p:cNvSpPr/>
          <p:nvPr/>
        </p:nvSpPr>
        <p:spPr>
          <a:xfrm>
            <a:off x="8419429" y="418429"/>
            <a:ext cx="168981" cy="168981"/>
          </a:xfrm>
          <a:prstGeom prst="ellipse">
            <a:avLst/>
          </a:prstGeom>
          <a:ln w="12700">
            <a:solidFill>
              <a:srgbClr val="CADCFC"/>
            </a:solidFill>
            <a:prstDash val="solid"/>
          </a:ln>
        </p:spPr>
      </p:sp>
      <p:sp>
        <p:nvSpPr>
          <p:cNvPr id="7" name="Shape 5"/>
          <p:cNvSpPr/>
          <p:nvPr/>
        </p:nvSpPr>
        <p:spPr>
          <a:xfrm>
            <a:off x="8531352" y="329184"/>
            <a:ext cx="164592" cy="164592"/>
          </a:xfrm>
          <a:prstGeom prst="ellipse">
            <a:avLst/>
          </a:prstGeom>
          <a:solidFill>
            <a:srgbClr val="B2182B"/>
          </a:solidFill>
          <a:ln w="12700">
            <a:solidFill>
              <a:srgbClr val="B2182B"/>
            </a:solidFill>
            <a:prstDash val="solid"/>
          </a:ln>
        </p:spPr>
      </p:sp>
      <p:sp>
        <p:nvSpPr>
          <p:cNvPr id="8" name="Shape 6"/>
          <p:cNvSpPr/>
          <p:nvPr/>
        </p:nvSpPr>
        <p:spPr>
          <a:xfrm>
            <a:off x="457200" y="1280160"/>
            <a:ext cx="384048" cy="384048"/>
          </a:xfrm>
          <a:prstGeom prst="ellipse">
            <a:avLst/>
          </a:prstGeom>
          <a:solidFill>
            <a:srgbClr val="1E2761"/>
          </a:solidFill>
          <a:ln w="12700">
            <a:solidFill>
              <a:srgbClr val="1E2761"/>
            </a:solidFill>
            <a:prstDash val="solid"/>
          </a:ln>
        </p:spPr>
      </p:sp>
      <p:sp>
        <p:nvSpPr>
          <p:cNvPr id="9" name="Text 7"/>
          <p:cNvSpPr txBox="1"/>
          <p:nvPr/>
        </p:nvSpPr>
        <p:spPr>
          <a:xfrm>
            <a:off x="457200" y="128016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0" name="Text 8"/>
          <p:cNvSpPr txBox="1"/>
          <p:nvPr/>
        </p:nvSpPr>
        <p:spPr>
          <a:xfrm>
            <a:off x="960120" y="1261872"/>
            <a:ext cx="4480560" cy="420624"/>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Classification  </a:t>
            </a:r>
            <a:pPr indent="0" marL="0">
              <a:buNone/>
            </a:pPr>
            <a:r>
              <a:rPr lang="en-US" sz="1300" dirty="0">
                <a:solidFill>
                  <a:srgbClr val="1F2937"/>
                </a:solidFill>
                <a:latin typeface="Calibri" pitchFamily="34" charset="0"/>
                <a:ea typeface="Calibri" pitchFamily="34" charset="-122"/>
                <a:cs typeface="Calibri" pitchFamily="34" charset="-120"/>
              </a:rPr>
              <a:t>Is this claim payable as billed?</a:t>
            </a:r>
            <a:endParaRPr lang="en-US" sz="1500" dirty="0"/>
          </a:p>
        </p:txBody>
      </p:sp>
      <p:sp>
        <p:nvSpPr>
          <p:cNvPr id="11" name="Shape 9"/>
          <p:cNvSpPr/>
          <p:nvPr/>
        </p:nvSpPr>
        <p:spPr>
          <a:xfrm>
            <a:off x="457200" y="1956816"/>
            <a:ext cx="384048" cy="384048"/>
          </a:xfrm>
          <a:prstGeom prst="ellipse">
            <a:avLst/>
          </a:prstGeom>
          <a:solidFill>
            <a:srgbClr val="1E2761"/>
          </a:solidFill>
          <a:ln w="12700">
            <a:solidFill>
              <a:srgbClr val="1E2761"/>
            </a:solidFill>
            <a:prstDash val="solid"/>
          </a:ln>
        </p:spPr>
      </p:sp>
      <p:sp>
        <p:nvSpPr>
          <p:cNvPr id="12" name="Text 10"/>
          <p:cNvSpPr txBox="1"/>
          <p:nvPr/>
        </p:nvSpPr>
        <p:spPr>
          <a:xfrm>
            <a:off x="457200" y="1956816"/>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1"/>
          <p:cNvSpPr txBox="1"/>
          <p:nvPr/>
        </p:nvSpPr>
        <p:spPr>
          <a:xfrm>
            <a:off x="960120" y="1938528"/>
            <a:ext cx="4480560" cy="420624"/>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Prediction  </a:t>
            </a:r>
            <a:pPr indent="0" marL="0">
              <a:buNone/>
            </a:pPr>
            <a:r>
              <a:rPr lang="en-US" sz="1300" dirty="0">
                <a:solidFill>
                  <a:srgbClr val="1F2937"/>
                </a:solidFill>
                <a:latin typeface="Calibri" pitchFamily="34" charset="0"/>
                <a:ea typeface="Calibri" pitchFamily="34" charset="-122"/>
                <a:cs typeface="Calibri" pitchFamily="34" charset="-120"/>
              </a:rPr>
              <a:t>Which claims will fail a medical record review?</a:t>
            </a:r>
            <a:endParaRPr lang="en-US" sz="1500" dirty="0"/>
          </a:p>
        </p:txBody>
      </p:sp>
      <p:sp>
        <p:nvSpPr>
          <p:cNvPr id="14" name="Shape 12"/>
          <p:cNvSpPr/>
          <p:nvPr/>
        </p:nvSpPr>
        <p:spPr>
          <a:xfrm>
            <a:off x="457200" y="2633472"/>
            <a:ext cx="384048" cy="384048"/>
          </a:xfrm>
          <a:prstGeom prst="ellipse">
            <a:avLst/>
          </a:prstGeom>
          <a:solidFill>
            <a:srgbClr val="1E2761"/>
          </a:solidFill>
          <a:ln w="12700">
            <a:solidFill>
              <a:srgbClr val="1E2761"/>
            </a:solidFill>
            <a:prstDash val="solid"/>
          </a:ln>
        </p:spPr>
      </p:sp>
      <p:sp>
        <p:nvSpPr>
          <p:cNvPr id="15" name="Text 13"/>
          <p:cNvSpPr txBox="1"/>
          <p:nvPr/>
        </p:nvSpPr>
        <p:spPr>
          <a:xfrm>
            <a:off x="457200" y="2633472"/>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6" name="Text 14"/>
          <p:cNvSpPr txBox="1"/>
          <p:nvPr/>
        </p:nvSpPr>
        <p:spPr>
          <a:xfrm>
            <a:off x="960120" y="2615184"/>
            <a:ext cx="4480560" cy="420624"/>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Inference  </a:t>
            </a:r>
            <a:pPr indent="0" marL="0">
              <a:buNone/>
            </a:pPr>
            <a:r>
              <a:rPr lang="en-US" sz="1300" dirty="0">
                <a:solidFill>
                  <a:srgbClr val="1F2937"/>
                </a:solidFill>
                <a:latin typeface="Calibri" pitchFamily="34" charset="0"/>
                <a:ea typeface="Calibri" pitchFamily="34" charset="-122"/>
                <a:cs typeface="Calibri" pitchFamily="34" charset="-120"/>
              </a:rPr>
              <a:t>Does this provider differ from peers by more than chance?</a:t>
            </a:r>
            <a:endParaRPr lang="en-US" sz="1500" dirty="0"/>
          </a:p>
        </p:txBody>
      </p:sp>
      <p:sp>
        <p:nvSpPr>
          <p:cNvPr id="17" name="Shape 15"/>
          <p:cNvSpPr/>
          <p:nvPr/>
        </p:nvSpPr>
        <p:spPr>
          <a:xfrm>
            <a:off x="457200" y="3310128"/>
            <a:ext cx="384048" cy="384048"/>
          </a:xfrm>
          <a:prstGeom prst="ellipse">
            <a:avLst/>
          </a:prstGeom>
          <a:solidFill>
            <a:srgbClr val="1E2761"/>
          </a:solidFill>
          <a:ln w="12700">
            <a:solidFill>
              <a:srgbClr val="1E2761"/>
            </a:solidFill>
            <a:prstDash val="solid"/>
          </a:ln>
        </p:spPr>
      </p:sp>
      <p:sp>
        <p:nvSpPr>
          <p:cNvPr id="18" name="Text 16"/>
          <p:cNvSpPr txBox="1"/>
          <p:nvPr/>
        </p:nvSpPr>
        <p:spPr>
          <a:xfrm>
            <a:off x="457200" y="331012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9" name="Text 17"/>
          <p:cNvSpPr txBox="1"/>
          <p:nvPr/>
        </p:nvSpPr>
        <p:spPr>
          <a:xfrm>
            <a:off x="960120" y="3291840"/>
            <a:ext cx="4480560" cy="420624"/>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Clustering  </a:t>
            </a:r>
            <a:pPr indent="0" marL="0">
              <a:buNone/>
            </a:pPr>
            <a:r>
              <a:rPr lang="en-US" sz="1300" dirty="0">
                <a:solidFill>
                  <a:srgbClr val="1F2937"/>
                </a:solidFill>
                <a:latin typeface="Calibri" pitchFamily="34" charset="0"/>
                <a:ea typeface="Calibri" pitchFamily="34" charset="-122"/>
                <a:cs typeface="Calibri" pitchFamily="34" charset="-120"/>
              </a:rPr>
              <a:t>Which providers share a billing profile?</a:t>
            </a:r>
            <a:endParaRPr lang="en-US" sz="1500" dirty="0"/>
          </a:p>
        </p:txBody>
      </p:sp>
      <p:sp>
        <p:nvSpPr>
          <p:cNvPr id="20" name="Shape 18"/>
          <p:cNvSpPr/>
          <p:nvPr/>
        </p:nvSpPr>
        <p:spPr>
          <a:xfrm>
            <a:off x="457200" y="3986784"/>
            <a:ext cx="384048" cy="384048"/>
          </a:xfrm>
          <a:prstGeom prst="ellipse">
            <a:avLst/>
          </a:prstGeom>
          <a:solidFill>
            <a:srgbClr val="1E2761"/>
          </a:solidFill>
          <a:ln w="12700">
            <a:solidFill>
              <a:srgbClr val="1E2761"/>
            </a:solidFill>
            <a:prstDash val="solid"/>
          </a:ln>
        </p:spPr>
      </p:sp>
      <p:sp>
        <p:nvSpPr>
          <p:cNvPr id="21" name="Text 19"/>
          <p:cNvSpPr txBox="1"/>
          <p:nvPr/>
        </p:nvSpPr>
        <p:spPr>
          <a:xfrm>
            <a:off x="457200" y="3986784"/>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2" name="Text 20"/>
          <p:cNvSpPr txBox="1"/>
          <p:nvPr/>
        </p:nvSpPr>
        <p:spPr>
          <a:xfrm>
            <a:off x="960120" y="3968496"/>
            <a:ext cx="4480560" cy="420624"/>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Time series  </a:t>
            </a:r>
            <a:pPr indent="0" marL="0">
              <a:buNone/>
            </a:pPr>
            <a:r>
              <a:rPr lang="en-US" sz="1300" dirty="0">
                <a:solidFill>
                  <a:srgbClr val="1F2937"/>
                </a:solidFill>
                <a:latin typeface="Calibri" pitchFamily="34" charset="0"/>
                <a:ea typeface="Calibri" pitchFamily="34" charset="-122"/>
                <a:cs typeface="Calibri" pitchFamily="34" charset="-120"/>
              </a:rPr>
              <a:t>When did a provider's behavior change?</a:t>
            </a:r>
            <a:endParaRPr lang="en-US" sz="1500" dirty="0"/>
          </a:p>
        </p:txBody>
      </p:sp>
      <p:sp>
        <p:nvSpPr>
          <p:cNvPr id="23" name="Shape 21"/>
          <p:cNvSpPr/>
          <p:nvPr/>
        </p:nvSpPr>
        <p:spPr>
          <a:xfrm>
            <a:off x="5760720" y="1280160"/>
            <a:ext cx="2926080" cy="3291840"/>
          </a:xfrm>
          <a:prstGeom prst="roundRect">
            <a:avLst>
              <a:gd name="adj" fmla="val 2500"/>
            </a:avLst>
          </a:prstGeom>
          <a:solidFill>
            <a:srgbClr val="1E2761"/>
          </a:solidFill>
          <a:ln w="12700">
            <a:solidFill>
              <a:srgbClr val="1E2761"/>
            </a:solidFill>
            <a:prstDash val="solid"/>
          </a:ln>
        </p:spPr>
      </p:sp>
      <p:sp>
        <p:nvSpPr>
          <p:cNvPr id="24" name="Text 22"/>
          <p:cNvSpPr txBox="1"/>
          <p:nvPr/>
        </p:nvSpPr>
        <p:spPr>
          <a:xfrm>
            <a:off x="5989320" y="1463040"/>
            <a:ext cx="2468880" cy="54864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The new layer: chain reasoning</a:t>
            </a:r>
            <a:endParaRPr lang="en-US" sz="1700" dirty="0"/>
          </a:p>
        </p:txBody>
      </p:sp>
      <p:sp>
        <p:nvSpPr>
          <p:cNvPr id="25" name="Text 23"/>
          <p:cNvSpPr txBox="1"/>
          <p:nvPr/>
        </p:nvSpPr>
        <p:spPr>
          <a:xfrm>
            <a:off x="5989320" y="2057400"/>
            <a:ext cx="2468880" cy="2377440"/>
          </a:xfrm>
          <a:prstGeom prst="rect">
            <a:avLst/>
          </a:prstGeom>
          <a:noFill/>
          <a:ln/>
        </p:spPr>
        <p:txBody>
          <a:bodyPr wrap="square" lIns="0" tIns="0" rIns="0" bIns="0" rtlCol="0" anchor="t"/>
          <a:lstStyle/>
          <a:p>
            <a:pPr indent="0" marL="0">
              <a:buNone/>
            </a:pPr>
            <a:r>
              <a:rPr lang="en-US" sz="1250" dirty="0">
                <a:solidFill>
                  <a:srgbClr val="CADCFC"/>
                </a:solidFill>
                <a:latin typeface="Calibri" pitchFamily="34" charset="0"/>
                <a:ea typeface="Calibri" pitchFamily="34" charset="-122"/>
                <a:cs typeface="Calibri" pitchFamily="34" charset="-120"/>
              </a:rPr>
              <a:t>LLM agents that retrieve policy, read records and draft findings (Wei et al., 2022; Yao et al., 2023).</a:t>
            </a:r>
            <a:endParaRPr lang="en-US" sz="1250" dirty="0"/>
          </a:p>
          <a:p>
            <a:pPr indent="0" marL="0">
              <a:buNone/>
            </a:pPr>
            <a:endParaRPr lang="en-US" sz="1250" dirty="0"/>
          </a:p>
          <a:p>
            <a:pPr indent="0" marL="0">
              <a:buNone/>
            </a:pPr>
            <a:r>
              <a:rPr lang="en-US" sz="1250" dirty="0">
                <a:solidFill>
                  <a:srgbClr val="CADCFC"/>
                </a:solidFill>
                <a:latin typeface="Calibri" pitchFamily="34" charset="0"/>
                <a:ea typeface="Calibri" pitchFamily="34" charset="-122"/>
                <a:cs typeface="Calibri" pitchFamily="34" charset="-120"/>
              </a:rPr>
              <a:t>Detectors find the signal. The agent assembles the evidence and the policy citations. A human auditor makes the determination.</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7680960" cy="548640"/>
          </a:xfrm>
          <a:prstGeom prst="rect">
            <a:avLst/>
          </a:prstGeom>
          <a:noFill/>
          <a:ln/>
        </p:spPr>
        <p:txBody>
          <a:bodyPr wrap="square" lIns="0" tIns="0" rIns="0" bIns="0" rtlCol="0" anchor="t"/>
          <a:lstStyle/>
          <a:p>
            <a:pPr indent="0" marL="0">
              <a:buNone/>
            </a:pPr>
            <a:r>
              <a:rPr lang="en-US" sz="3000" b="1" dirty="0">
                <a:solidFill>
                  <a:srgbClr val="1E2761"/>
                </a:solidFill>
                <a:latin typeface="Calibri" pitchFamily="34" charset="0"/>
                <a:ea typeface="Calibri" pitchFamily="34" charset="-122"/>
                <a:cs typeface="Calibri" pitchFamily="34" charset="-120"/>
              </a:rPr>
              <a:t>Trends: from rules to reasoning agents</a:t>
            </a:r>
            <a:endParaRPr lang="en-US" sz="3000" dirty="0"/>
          </a:p>
        </p:txBody>
      </p:sp>
      <p:sp>
        <p:nvSpPr>
          <p:cNvPr id="3" name="Text 1"/>
          <p:cNvSpPr txBox="1"/>
          <p:nvPr/>
        </p:nvSpPr>
        <p:spPr>
          <a:xfrm>
            <a:off x="457200" y="804672"/>
            <a:ext cx="7680960" cy="292608"/>
          </a:xfrm>
          <a:prstGeom prst="rect">
            <a:avLst/>
          </a:prstGeom>
          <a:noFill/>
          <a:ln/>
        </p:spPr>
        <p:txBody>
          <a:bodyPr wrap="square" lIns="0" tIns="0" rIns="0" bIns="0" rtlCol="0" anchor="t"/>
          <a:lstStyle/>
          <a:p>
            <a:pPr indent="0" marL="0">
              <a:buNone/>
            </a:pPr>
            <a:r>
              <a:rPr lang="en-US" sz="1300" dirty="0">
                <a:solidFill>
                  <a:srgbClr val="595959"/>
                </a:solidFill>
                <a:latin typeface="Calibri" pitchFamily="34" charset="0"/>
                <a:ea typeface="Calibri" pitchFamily="34" charset="-122"/>
                <a:cs typeface="Calibri" pitchFamily="34" charset="-120"/>
              </a:rPr>
              <a:t>Past, present and future of pattern recognition in payment integrity</a:t>
            </a:r>
            <a:endParaRPr lang="en-US" sz="1300" dirty="0"/>
          </a:p>
        </p:txBody>
      </p:sp>
      <p:sp>
        <p:nvSpPr>
          <p:cNvPr id="4" name="Shape 2"/>
          <p:cNvSpPr/>
          <p:nvPr/>
        </p:nvSpPr>
        <p:spPr>
          <a:xfrm>
            <a:off x="8247888" y="246888"/>
            <a:ext cx="512064" cy="512064"/>
          </a:xfrm>
          <a:prstGeom prst="ellipse">
            <a:avLst/>
          </a:prstGeom>
          <a:ln w="12700">
            <a:solidFill>
              <a:srgbClr val="CADCFC"/>
            </a:solidFill>
            <a:prstDash val="solid"/>
          </a:ln>
        </p:spPr>
      </p:sp>
      <p:sp>
        <p:nvSpPr>
          <p:cNvPr id="5" name="Shape 3"/>
          <p:cNvSpPr/>
          <p:nvPr/>
        </p:nvSpPr>
        <p:spPr>
          <a:xfrm>
            <a:off x="8334939" y="333939"/>
            <a:ext cx="337962" cy="337962"/>
          </a:xfrm>
          <a:prstGeom prst="ellipse">
            <a:avLst/>
          </a:prstGeom>
          <a:ln w="12700">
            <a:solidFill>
              <a:srgbClr val="CADCFC"/>
            </a:solidFill>
            <a:prstDash val="solid"/>
          </a:ln>
        </p:spPr>
      </p:sp>
      <p:sp>
        <p:nvSpPr>
          <p:cNvPr id="6" name="Shape 4"/>
          <p:cNvSpPr/>
          <p:nvPr/>
        </p:nvSpPr>
        <p:spPr>
          <a:xfrm>
            <a:off x="8419429" y="418429"/>
            <a:ext cx="168981" cy="168981"/>
          </a:xfrm>
          <a:prstGeom prst="ellipse">
            <a:avLst/>
          </a:prstGeom>
          <a:ln w="12700">
            <a:solidFill>
              <a:srgbClr val="CADCFC"/>
            </a:solidFill>
            <a:prstDash val="solid"/>
          </a:ln>
        </p:spPr>
      </p:sp>
      <p:sp>
        <p:nvSpPr>
          <p:cNvPr id="7" name="Shape 5"/>
          <p:cNvSpPr/>
          <p:nvPr/>
        </p:nvSpPr>
        <p:spPr>
          <a:xfrm>
            <a:off x="8531352" y="329184"/>
            <a:ext cx="164592" cy="164592"/>
          </a:xfrm>
          <a:prstGeom prst="ellipse">
            <a:avLst/>
          </a:prstGeom>
          <a:solidFill>
            <a:srgbClr val="B2182B"/>
          </a:solidFill>
          <a:ln w="12700">
            <a:solidFill>
              <a:srgbClr val="B2182B"/>
            </a:solidFill>
            <a:prstDash val="solid"/>
          </a:ln>
        </p:spPr>
      </p:sp>
      <p:sp>
        <p:nvSpPr>
          <p:cNvPr id="8" name="Shape 6"/>
          <p:cNvSpPr/>
          <p:nvPr/>
        </p:nvSpPr>
        <p:spPr>
          <a:xfrm>
            <a:off x="1783080" y="1691640"/>
            <a:ext cx="5577840" cy="0"/>
          </a:xfrm>
          <a:prstGeom prst="line">
            <a:avLst/>
          </a:prstGeom>
          <a:noFill/>
          <a:ln w="38100">
            <a:solidFill>
              <a:srgbClr val="CADCFC"/>
            </a:solidFill>
            <a:prstDash val="solid"/>
          </a:ln>
        </p:spPr>
      </p:sp>
      <p:sp>
        <p:nvSpPr>
          <p:cNvPr id="9" name="Shape 7"/>
          <p:cNvSpPr/>
          <p:nvPr/>
        </p:nvSpPr>
        <p:spPr>
          <a:xfrm>
            <a:off x="1600200" y="1508760"/>
            <a:ext cx="365760" cy="365760"/>
          </a:xfrm>
          <a:prstGeom prst="ellipse">
            <a:avLst/>
          </a:prstGeom>
          <a:solidFill>
            <a:srgbClr val="1E2761"/>
          </a:solidFill>
          <a:ln w="25400">
            <a:solidFill>
              <a:srgbClr val="FFFFFF"/>
            </a:solidFill>
            <a:prstDash val="solid"/>
          </a:ln>
        </p:spPr>
      </p:sp>
      <p:sp>
        <p:nvSpPr>
          <p:cNvPr id="10" name="Text 8"/>
          <p:cNvSpPr txBox="1"/>
          <p:nvPr/>
        </p:nvSpPr>
        <p:spPr>
          <a:xfrm>
            <a:off x="868680" y="1170432"/>
            <a:ext cx="1828800" cy="320040"/>
          </a:xfrm>
          <a:prstGeom prst="rect">
            <a:avLst/>
          </a:prstGeom>
          <a:noFill/>
          <a:ln/>
        </p:spPr>
        <p:txBody>
          <a:bodyPr wrap="square" lIns="0" tIns="0" rIns="0" bIns="0" rtlCol="0" anchor="ctr"/>
          <a:lstStyle/>
          <a:p>
            <a:pPr algn="ctr" indent="0" marL="0">
              <a:buNone/>
            </a:pPr>
            <a:r>
              <a:rPr lang="en-US" sz="1500" b="1" dirty="0">
                <a:solidFill>
                  <a:srgbClr val="1E2761"/>
                </a:solidFill>
                <a:latin typeface="Calibri" pitchFamily="34" charset="0"/>
                <a:ea typeface="Calibri" pitchFamily="34" charset="-122"/>
                <a:cs typeface="Calibri" pitchFamily="34" charset="-120"/>
              </a:rPr>
              <a:t>Past</a:t>
            </a:r>
            <a:endParaRPr lang="en-US" sz="1500" dirty="0"/>
          </a:p>
        </p:txBody>
      </p:sp>
      <p:sp>
        <p:nvSpPr>
          <p:cNvPr id="11" name="Shape 9"/>
          <p:cNvSpPr/>
          <p:nvPr/>
        </p:nvSpPr>
        <p:spPr>
          <a:xfrm>
            <a:off x="457200" y="2103120"/>
            <a:ext cx="2651760" cy="2651760"/>
          </a:xfrm>
          <a:prstGeom prst="roundRect">
            <a:avLst>
              <a:gd name="adj" fmla="val 2759"/>
            </a:avLst>
          </a:prstGeom>
          <a:solidFill>
            <a:srgbClr val="F2F5FB"/>
          </a:solidFill>
          <a:ln w="12700">
            <a:solidFill>
              <a:srgbClr val="F2F5FB"/>
            </a:solidFill>
            <a:prstDash val="solid"/>
          </a:ln>
        </p:spPr>
      </p:sp>
      <p:sp>
        <p:nvSpPr>
          <p:cNvPr id="12" name="Text 10"/>
          <p:cNvSpPr txBox="1"/>
          <p:nvPr/>
        </p:nvSpPr>
        <p:spPr>
          <a:xfrm>
            <a:off x="640080" y="2212848"/>
            <a:ext cx="2286000" cy="36576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Deterministic rules</a:t>
            </a:r>
            <a:endParaRPr lang="en-US" sz="1500" dirty="0"/>
          </a:p>
        </p:txBody>
      </p:sp>
      <p:sp>
        <p:nvSpPr>
          <p:cNvPr id="13" name="Text 11"/>
          <p:cNvSpPr txBox="1"/>
          <p:nvPr/>
        </p:nvSpPr>
        <p:spPr>
          <a:xfrm>
            <a:off x="640080" y="2606040"/>
            <a:ext cx="2331720" cy="205740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Coding edits, bundling logic, frequency limits</a:t>
            </a:r>
            <a:endParaRPr lang="en-US" sz="1200" dirty="0"/>
          </a:p>
          <a:p>
            <a:pPr marL="342900" indent="-3429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Precise and auditable</a:t>
            </a:r>
            <a:endParaRPr lang="en-US" sz="1200" dirty="0"/>
          </a:p>
          <a:p>
            <a:pPr marL="342900" indent="-3429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Blind to patterns across claims, providers and months</a:t>
            </a:r>
            <a:endParaRPr lang="en-US" sz="1200" dirty="0"/>
          </a:p>
        </p:txBody>
      </p:sp>
      <p:sp>
        <p:nvSpPr>
          <p:cNvPr id="14" name="Shape 12"/>
          <p:cNvSpPr/>
          <p:nvPr/>
        </p:nvSpPr>
        <p:spPr>
          <a:xfrm>
            <a:off x="4389120" y="1508760"/>
            <a:ext cx="365760" cy="365760"/>
          </a:xfrm>
          <a:prstGeom prst="ellipse">
            <a:avLst/>
          </a:prstGeom>
          <a:solidFill>
            <a:srgbClr val="1E2761"/>
          </a:solidFill>
          <a:ln w="25400">
            <a:solidFill>
              <a:srgbClr val="FFFFFF"/>
            </a:solidFill>
            <a:prstDash val="solid"/>
          </a:ln>
        </p:spPr>
      </p:sp>
      <p:sp>
        <p:nvSpPr>
          <p:cNvPr id="15" name="Text 13"/>
          <p:cNvSpPr txBox="1"/>
          <p:nvPr/>
        </p:nvSpPr>
        <p:spPr>
          <a:xfrm>
            <a:off x="3657600" y="1170432"/>
            <a:ext cx="1828800" cy="320040"/>
          </a:xfrm>
          <a:prstGeom prst="rect">
            <a:avLst/>
          </a:prstGeom>
          <a:noFill/>
          <a:ln/>
        </p:spPr>
        <p:txBody>
          <a:bodyPr wrap="square" lIns="0" tIns="0" rIns="0" bIns="0" rtlCol="0" anchor="ctr"/>
          <a:lstStyle/>
          <a:p>
            <a:pPr algn="ctr" indent="0" marL="0">
              <a:buNone/>
            </a:pPr>
            <a:r>
              <a:rPr lang="en-US" sz="1500" b="1" dirty="0">
                <a:solidFill>
                  <a:srgbClr val="1E2761"/>
                </a:solidFill>
                <a:latin typeface="Calibri" pitchFamily="34" charset="0"/>
                <a:ea typeface="Calibri" pitchFamily="34" charset="-122"/>
                <a:cs typeface="Calibri" pitchFamily="34" charset="-120"/>
              </a:rPr>
              <a:t>Present</a:t>
            </a:r>
            <a:endParaRPr lang="en-US" sz="1500" dirty="0"/>
          </a:p>
        </p:txBody>
      </p:sp>
      <p:sp>
        <p:nvSpPr>
          <p:cNvPr id="16" name="Shape 14"/>
          <p:cNvSpPr/>
          <p:nvPr/>
        </p:nvSpPr>
        <p:spPr>
          <a:xfrm>
            <a:off x="3246120" y="2103120"/>
            <a:ext cx="2651760" cy="2651760"/>
          </a:xfrm>
          <a:prstGeom prst="roundRect">
            <a:avLst>
              <a:gd name="adj" fmla="val 2759"/>
            </a:avLst>
          </a:prstGeom>
          <a:solidFill>
            <a:srgbClr val="F2F5FB"/>
          </a:solidFill>
          <a:ln w="12700">
            <a:solidFill>
              <a:srgbClr val="F2F5FB"/>
            </a:solidFill>
            <a:prstDash val="solid"/>
          </a:ln>
        </p:spPr>
      </p:sp>
      <p:sp>
        <p:nvSpPr>
          <p:cNvPr id="17" name="Text 15"/>
          <p:cNvSpPr txBox="1"/>
          <p:nvPr/>
        </p:nvSpPr>
        <p:spPr>
          <a:xfrm>
            <a:off x="3429000" y="2212848"/>
            <a:ext cx="2286000" cy="36576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Statistical models</a:t>
            </a:r>
            <a:endParaRPr lang="en-US" sz="1500" dirty="0"/>
          </a:p>
        </p:txBody>
      </p:sp>
      <p:sp>
        <p:nvSpPr>
          <p:cNvPr id="18" name="Text 16"/>
          <p:cNvSpPr txBox="1"/>
          <p:nvPr/>
        </p:nvSpPr>
        <p:spPr>
          <a:xfrm>
            <a:off x="3429000" y="2606040"/>
            <a:ext cx="2331720" cy="205740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Supervised triage on audited outcomes</a:t>
            </a:r>
            <a:endParaRPr lang="en-US" sz="1200" dirty="0"/>
          </a:p>
          <a:p>
            <a:pPr marL="342900" indent="-3429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Explainable unsupervised ensembles: 5x lift in overlap with DOJ-action hospitals (Shekhar et al., 2026)</a:t>
            </a:r>
            <a:endParaRPr lang="en-US" sz="1200" dirty="0"/>
          </a:p>
          <a:p>
            <a:pPr marL="342900" indent="-3429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Earlier intervention: Cotiviti's Proactive COB acts at enrollment (2026)</a:t>
            </a:r>
            <a:endParaRPr lang="en-US" sz="1200" dirty="0"/>
          </a:p>
        </p:txBody>
      </p:sp>
      <p:sp>
        <p:nvSpPr>
          <p:cNvPr id="19" name="Shape 17"/>
          <p:cNvSpPr/>
          <p:nvPr/>
        </p:nvSpPr>
        <p:spPr>
          <a:xfrm>
            <a:off x="7178040" y="1508760"/>
            <a:ext cx="365760" cy="365760"/>
          </a:xfrm>
          <a:prstGeom prst="ellipse">
            <a:avLst/>
          </a:prstGeom>
          <a:solidFill>
            <a:srgbClr val="B2182B"/>
          </a:solidFill>
          <a:ln w="25400">
            <a:solidFill>
              <a:srgbClr val="FFFFFF"/>
            </a:solidFill>
            <a:prstDash val="solid"/>
          </a:ln>
        </p:spPr>
      </p:sp>
      <p:sp>
        <p:nvSpPr>
          <p:cNvPr id="20" name="Text 18"/>
          <p:cNvSpPr txBox="1"/>
          <p:nvPr/>
        </p:nvSpPr>
        <p:spPr>
          <a:xfrm>
            <a:off x="6446520" y="1170432"/>
            <a:ext cx="1828800" cy="320040"/>
          </a:xfrm>
          <a:prstGeom prst="rect">
            <a:avLst/>
          </a:prstGeom>
          <a:noFill/>
          <a:ln/>
        </p:spPr>
        <p:txBody>
          <a:bodyPr wrap="square" lIns="0" tIns="0" rIns="0" bIns="0" rtlCol="0" anchor="ctr"/>
          <a:lstStyle/>
          <a:p>
            <a:pPr algn="ctr" indent="0" marL="0">
              <a:buNone/>
            </a:pPr>
            <a:r>
              <a:rPr lang="en-US" sz="1500" b="1" dirty="0">
                <a:solidFill>
                  <a:srgbClr val="B2182B"/>
                </a:solidFill>
                <a:latin typeface="Calibri" pitchFamily="34" charset="0"/>
                <a:ea typeface="Calibri" pitchFamily="34" charset="-122"/>
                <a:cs typeface="Calibri" pitchFamily="34" charset="-120"/>
              </a:rPr>
              <a:t>Future</a:t>
            </a:r>
            <a:endParaRPr lang="en-US" sz="1500" dirty="0"/>
          </a:p>
        </p:txBody>
      </p:sp>
      <p:sp>
        <p:nvSpPr>
          <p:cNvPr id="21" name="Shape 19"/>
          <p:cNvSpPr/>
          <p:nvPr/>
        </p:nvSpPr>
        <p:spPr>
          <a:xfrm>
            <a:off x="6035040" y="2103120"/>
            <a:ext cx="2651760" cy="2651760"/>
          </a:xfrm>
          <a:prstGeom prst="roundRect">
            <a:avLst>
              <a:gd name="adj" fmla="val 2759"/>
            </a:avLst>
          </a:prstGeom>
          <a:solidFill>
            <a:srgbClr val="F2F5FB"/>
          </a:solidFill>
          <a:ln w="12700">
            <a:solidFill>
              <a:srgbClr val="F2F5FB"/>
            </a:solidFill>
            <a:prstDash val="solid"/>
          </a:ln>
        </p:spPr>
      </p:sp>
      <p:sp>
        <p:nvSpPr>
          <p:cNvPr id="22" name="Text 20"/>
          <p:cNvSpPr txBox="1"/>
          <p:nvPr/>
        </p:nvSpPr>
        <p:spPr>
          <a:xfrm>
            <a:off x="6217920" y="2212848"/>
            <a:ext cx="2286000" cy="36576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Reasoning agents</a:t>
            </a:r>
            <a:endParaRPr lang="en-US" sz="1500" dirty="0"/>
          </a:p>
        </p:txBody>
      </p:sp>
      <p:sp>
        <p:nvSpPr>
          <p:cNvPr id="23" name="Text 21"/>
          <p:cNvSpPr txBox="1"/>
          <p:nvPr/>
        </p:nvSpPr>
        <p:spPr>
          <a:xfrm>
            <a:off x="6217920" y="2606040"/>
            <a:ext cx="2331720" cy="205740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LLMs encode clinical knowledge (Singhal et al., 2023)</a:t>
            </a:r>
            <a:endParaRPr lang="en-US" sz="1200" dirty="0"/>
          </a:p>
          <a:p>
            <a:pPr marL="342900" indent="-3429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Coder + critic agents (Yin et al., 2026); the same pattern for policy citations</a:t>
            </a:r>
            <a:endParaRPr lang="en-US" sz="1200" dirty="0"/>
          </a:p>
          <a:p>
            <a:pPr marL="342900" indent="-3429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Coexistence, not replacement: rules, ranking, agent, critic, human</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7680960" cy="548640"/>
          </a:xfrm>
          <a:prstGeom prst="rect">
            <a:avLst/>
          </a:prstGeom>
          <a:noFill/>
          <a:ln/>
        </p:spPr>
        <p:txBody>
          <a:bodyPr wrap="square" lIns="0" tIns="0" rIns="0" bIns="0" rtlCol="0" anchor="t"/>
          <a:lstStyle/>
          <a:p>
            <a:pPr indent="0" marL="0">
              <a:buNone/>
            </a:pPr>
            <a:r>
              <a:rPr lang="en-US" sz="3000" b="1" dirty="0">
                <a:solidFill>
                  <a:srgbClr val="1E2761"/>
                </a:solidFill>
                <a:latin typeface="Calibri" pitchFamily="34" charset="0"/>
                <a:ea typeface="Calibri" pitchFamily="34" charset="-122"/>
                <a:cs typeface="Calibri" pitchFamily="34" charset="-120"/>
              </a:rPr>
              <a:t>Opportunities and threats</a:t>
            </a:r>
            <a:endParaRPr lang="en-US" sz="3000" dirty="0"/>
          </a:p>
        </p:txBody>
      </p:sp>
      <p:sp>
        <p:nvSpPr>
          <p:cNvPr id="3" name="Shape 1"/>
          <p:cNvSpPr/>
          <p:nvPr/>
        </p:nvSpPr>
        <p:spPr>
          <a:xfrm>
            <a:off x="8247888" y="246888"/>
            <a:ext cx="512064" cy="512064"/>
          </a:xfrm>
          <a:prstGeom prst="ellipse">
            <a:avLst/>
          </a:prstGeom>
          <a:ln w="12700">
            <a:solidFill>
              <a:srgbClr val="CADCFC"/>
            </a:solidFill>
            <a:prstDash val="solid"/>
          </a:ln>
        </p:spPr>
      </p:sp>
      <p:sp>
        <p:nvSpPr>
          <p:cNvPr id="4" name="Shape 2"/>
          <p:cNvSpPr/>
          <p:nvPr/>
        </p:nvSpPr>
        <p:spPr>
          <a:xfrm>
            <a:off x="8334939" y="333939"/>
            <a:ext cx="337962" cy="337962"/>
          </a:xfrm>
          <a:prstGeom prst="ellipse">
            <a:avLst/>
          </a:prstGeom>
          <a:ln w="12700">
            <a:solidFill>
              <a:srgbClr val="CADCFC"/>
            </a:solidFill>
            <a:prstDash val="solid"/>
          </a:ln>
        </p:spPr>
      </p:sp>
      <p:sp>
        <p:nvSpPr>
          <p:cNvPr id="5" name="Shape 3"/>
          <p:cNvSpPr/>
          <p:nvPr/>
        </p:nvSpPr>
        <p:spPr>
          <a:xfrm>
            <a:off x="8419429" y="418429"/>
            <a:ext cx="168981" cy="168981"/>
          </a:xfrm>
          <a:prstGeom prst="ellipse">
            <a:avLst/>
          </a:prstGeom>
          <a:ln w="12700">
            <a:solidFill>
              <a:srgbClr val="CADCFC"/>
            </a:solidFill>
            <a:prstDash val="solid"/>
          </a:ln>
        </p:spPr>
      </p:sp>
      <p:sp>
        <p:nvSpPr>
          <p:cNvPr id="6" name="Shape 4"/>
          <p:cNvSpPr/>
          <p:nvPr/>
        </p:nvSpPr>
        <p:spPr>
          <a:xfrm>
            <a:off x="8531352" y="329184"/>
            <a:ext cx="164592" cy="164592"/>
          </a:xfrm>
          <a:prstGeom prst="ellipse">
            <a:avLst/>
          </a:prstGeom>
          <a:solidFill>
            <a:srgbClr val="B2182B"/>
          </a:solidFill>
          <a:ln w="12700">
            <a:solidFill>
              <a:srgbClr val="B2182B"/>
            </a:solidFill>
            <a:prstDash val="solid"/>
          </a:ln>
        </p:spPr>
      </p:sp>
      <p:sp>
        <p:nvSpPr>
          <p:cNvPr id="7" name="Shape 5"/>
          <p:cNvSpPr/>
          <p:nvPr/>
        </p:nvSpPr>
        <p:spPr>
          <a:xfrm>
            <a:off x="457200" y="1188720"/>
            <a:ext cx="4023360" cy="3383280"/>
          </a:xfrm>
          <a:prstGeom prst="roundRect">
            <a:avLst>
              <a:gd name="adj" fmla="val 2162"/>
            </a:avLst>
          </a:prstGeom>
          <a:solidFill>
            <a:srgbClr val="F2F5FB"/>
          </a:solidFill>
          <a:ln w="12700">
            <a:solidFill>
              <a:srgbClr val="F2F5FB"/>
            </a:solidFill>
            <a:prstDash val="solid"/>
          </a:ln>
        </p:spPr>
      </p:sp>
      <p:sp>
        <p:nvSpPr>
          <p:cNvPr id="8" name="Text 6"/>
          <p:cNvSpPr txBox="1"/>
          <p:nvPr/>
        </p:nvSpPr>
        <p:spPr>
          <a:xfrm>
            <a:off x="685800" y="1325880"/>
            <a:ext cx="3566160" cy="411480"/>
          </a:xfrm>
          <a:prstGeom prst="rect">
            <a:avLst/>
          </a:prstGeom>
          <a:noFill/>
          <a:ln/>
        </p:spPr>
        <p:txBody>
          <a:bodyPr wrap="square" lIns="0" tIns="0" rIns="0" bIns="0" rtlCol="0" anchor="ctr"/>
          <a:lstStyle/>
          <a:p>
            <a:pPr indent="0" marL="0">
              <a:buNone/>
            </a:pPr>
            <a:r>
              <a:rPr lang="en-US" sz="2000" b="1" dirty="0">
                <a:solidFill>
                  <a:srgbClr val="1E2761"/>
                </a:solidFill>
                <a:latin typeface="Calibri" pitchFamily="34" charset="0"/>
                <a:ea typeface="Calibri" pitchFamily="34" charset="-122"/>
                <a:cs typeface="Calibri" pitchFamily="34" charset="-120"/>
              </a:rPr>
              <a:t>Opportunities</a:t>
            </a:r>
            <a:endParaRPr lang="en-US" sz="2000" dirty="0"/>
          </a:p>
        </p:txBody>
      </p:sp>
      <p:sp>
        <p:nvSpPr>
          <p:cNvPr id="9" name="Text 7"/>
          <p:cNvSpPr txBox="1"/>
          <p:nvPr/>
        </p:nvSpPr>
        <p:spPr>
          <a:xfrm>
            <a:off x="685800" y="1783080"/>
            <a:ext cx="3611880" cy="265176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1F2937"/>
                </a:solidFill>
                <a:latin typeface="Calibri" pitchFamily="34" charset="0"/>
                <a:ea typeface="Calibri" pitchFamily="34" charset="-122"/>
                <a:cs typeface="Calibri" pitchFamily="34" charset="-120"/>
              </a:rPr>
              <a:t>Explainable triage: rule hits, peer z-scores and change points in one evidence packet</a:t>
            </a:r>
            <a:endParaRPr lang="en-US" sz="1500" dirty="0"/>
          </a:p>
          <a:p>
            <a:pPr marL="342900" indent="-342900">
              <a:spcAft>
                <a:spcPts val="600"/>
              </a:spcAft>
              <a:buSzPct val="100000"/>
              <a:buChar char="•"/>
            </a:pPr>
            <a:r>
              <a:rPr lang="en-US" sz="1500" dirty="0">
                <a:solidFill>
                  <a:srgbClr val="1F2937"/>
                </a:solidFill>
                <a:latin typeface="Calibri" pitchFamily="34" charset="0"/>
                <a:ea typeface="Calibri" pitchFamily="34" charset="-122"/>
                <a:cs typeface="Calibri" pitchFamily="34" charset="-120"/>
              </a:rPr>
              <a:t>Emerging-scheme discovery where no rule exists yet</a:t>
            </a:r>
            <a:endParaRPr lang="en-US" sz="1500" dirty="0"/>
          </a:p>
          <a:p>
            <a:pPr marL="342900" indent="-342900">
              <a:spcAft>
                <a:spcPts val="600"/>
              </a:spcAft>
              <a:buSzPct val="100000"/>
              <a:buChar char="•"/>
            </a:pPr>
            <a:r>
              <a:rPr lang="en-US" sz="1500" dirty="0">
                <a:solidFill>
                  <a:srgbClr val="1F2937"/>
                </a:solidFill>
                <a:latin typeface="Calibri" pitchFamily="34" charset="0"/>
                <a:ea typeface="Calibri" pitchFamily="34" charset="-122"/>
                <a:cs typeface="Calibri" pitchFamily="34" charset="-120"/>
              </a:rPr>
              <a:t>Cross-payer signal across 100+ payers, within contracts and de-identification</a:t>
            </a:r>
            <a:endParaRPr lang="en-US" sz="1500" dirty="0"/>
          </a:p>
        </p:txBody>
      </p:sp>
      <p:sp>
        <p:nvSpPr>
          <p:cNvPr id="10" name="Shape 8"/>
          <p:cNvSpPr/>
          <p:nvPr/>
        </p:nvSpPr>
        <p:spPr>
          <a:xfrm>
            <a:off x="4663440" y="1188720"/>
            <a:ext cx="4023360" cy="3383280"/>
          </a:xfrm>
          <a:prstGeom prst="roundRect">
            <a:avLst>
              <a:gd name="adj" fmla="val 2162"/>
            </a:avLst>
          </a:prstGeom>
          <a:solidFill>
            <a:srgbClr val="FBEFEF"/>
          </a:solidFill>
          <a:ln w="12700">
            <a:solidFill>
              <a:srgbClr val="FBEFEF"/>
            </a:solidFill>
            <a:prstDash val="solid"/>
          </a:ln>
        </p:spPr>
      </p:sp>
      <p:sp>
        <p:nvSpPr>
          <p:cNvPr id="11" name="Text 9"/>
          <p:cNvSpPr txBox="1"/>
          <p:nvPr/>
        </p:nvSpPr>
        <p:spPr>
          <a:xfrm>
            <a:off x="4892040" y="1325880"/>
            <a:ext cx="3566160" cy="411480"/>
          </a:xfrm>
          <a:prstGeom prst="rect">
            <a:avLst/>
          </a:prstGeom>
          <a:noFill/>
          <a:ln/>
        </p:spPr>
        <p:txBody>
          <a:bodyPr wrap="square" lIns="0" tIns="0" rIns="0" bIns="0" rtlCol="0" anchor="ctr"/>
          <a:lstStyle/>
          <a:p>
            <a:pPr indent="0" marL="0">
              <a:buNone/>
            </a:pPr>
            <a:r>
              <a:rPr lang="en-US" sz="2000" b="1" dirty="0">
                <a:solidFill>
                  <a:srgbClr val="B2182B"/>
                </a:solidFill>
                <a:latin typeface="Calibri" pitchFamily="34" charset="0"/>
                <a:ea typeface="Calibri" pitchFamily="34" charset="-122"/>
                <a:cs typeface="Calibri" pitchFamily="34" charset="-120"/>
              </a:rPr>
              <a:t>Threats</a:t>
            </a:r>
            <a:endParaRPr lang="en-US" sz="2000" dirty="0"/>
          </a:p>
        </p:txBody>
      </p:sp>
      <p:sp>
        <p:nvSpPr>
          <p:cNvPr id="12" name="Text 10"/>
          <p:cNvSpPr txBox="1"/>
          <p:nvPr/>
        </p:nvSpPr>
        <p:spPr>
          <a:xfrm>
            <a:off x="4892040" y="1783080"/>
            <a:ext cx="3611880" cy="265176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1F2937"/>
                </a:solidFill>
                <a:latin typeface="Calibri" pitchFamily="34" charset="0"/>
                <a:ea typeface="Calibri" pitchFamily="34" charset="-122"/>
                <a:cs typeface="Calibri" pitchFamily="34" charset="-120"/>
              </a:rPr>
              <a:t>False positives cost reviewer time and provider goodwill</a:t>
            </a:r>
            <a:endParaRPr lang="en-US" sz="1500" dirty="0"/>
          </a:p>
          <a:p>
            <a:pPr marL="342900" indent="-342900">
              <a:spcAft>
                <a:spcPts val="600"/>
              </a:spcAft>
              <a:buSzPct val="100000"/>
              <a:buChar char="•"/>
            </a:pPr>
            <a:r>
              <a:rPr lang="en-US" sz="1500" dirty="0">
                <a:solidFill>
                  <a:srgbClr val="1F2937"/>
                </a:solidFill>
                <a:latin typeface="Calibri" pitchFamily="34" charset="0"/>
                <a:ea typeface="Calibri" pitchFamily="34" charset="-122"/>
                <a:cs typeface="Calibri" pitchFamily="34" charset="-120"/>
              </a:rPr>
              <a:t>Automation bias: browser agents almost never withheld a deficient prior-auth submission (Nie et al., 2026)</a:t>
            </a:r>
            <a:endParaRPr lang="en-US" sz="1500" dirty="0"/>
          </a:p>
          <a:p>
            <a:pPr marL="342900" indent="-342900">
              <a:spcAft>
                <a:spcPts val="600"/>
              </a:spcAft>
              <a:buSzPct val="100000"/>
              <a:buChar char="•"/>
            </a:pPr>
            <a:r>
              <a:rPr lang="en-US" sz="1500" dirty="0">
                <a:solidFill>
                  <a:srgbClr val="1F2937"/>
                </a:solidFill>
                <a:latin typeface="Calibri" pitchFamily="34" charset="0"/>
                <a:ea typeface="Calibri" pitchFamily="34" charset="-122"/>
                <a:cs typeface="Calibri" pitchFamily="34" charset="-120"/>
              </a:rPr>
              <a:t>AI-assisted denials are in court and before Congress (Raza et al., 2026); 95% of appealed SNF denials overturned (OIG, 2026)</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7680960" cy="548640"/>
          </a:xfrm>
          <a:prstGeom prst="rect">
            <a:avLst/>
          </a:prstGeom>
          <a:noFill/>
          <a:ln/>
        </p:spPr>
        <p:txBody>
          <a:bodyPr wrap="square" lIns="0" tIns="0" rIns="0" bIns="0" rtlCol="0" anchor="t"/>
          <a:lstStyle/>
          <a:p>
            <a:pPr indent="0" marL="0">
              <a:buNone/>
            </a:pPr>
            <a:r>
              <a:rPr lang="en-US" sz="3000" b="1" dirty="0">
                <a:solidFill>
                  <a:srgbClr val="1E2761"/>
                </a:solidFill>
                <a:latin typeface="Calibri" pitchFamily="34" charset="0"/>
                <a:ea typeface="Calibri" pitchFamily="34" charset="-122"/>
                <a:cs typeface="Calibri" pitchFamily="34" charset="-120"/>
              </a:rPr>
              <a:t>Three deltas on what Cotiviti already has</a:t>
            </a:r>
            <a:endParaRPr lang="en-US" sz="3000" dirty="0"/>
          </a:p>
        </p:txBody>
      </p:sp>
      <p:sp>
        <p:nvSpPr>
          <p:cNvPr id="3" name="Text 1"/>
          <p:cNvSpPr txBox="1"/>
          <p:nvPr/>
        </p:nvSpPr>
        <p:spPr>
          <a:xfrm>
            <a:off x="457200" y="804672"/>
            <a:ext cx="7680960" cy="292608"/>
          </a:xfrm>
          <a:prstGeom prst="rect">
            <a:avLst/>
          </a:prstGeom>
          <a:noFill/>
          <a:ln/>
        </p:spPr>
        <p:txBody>
          <a:bodyPr wrap="square" lIns="0" tIns="0" rIns="0" bIns="0" rtlCol="0" anchor="t"/>
          <a:lstStyle/>
          <a:p>
            <a:pPr indent="0" marL="0">
              <a:buNone/>
            </a:pPr>
            <a:r>
              <a:rPr lang="en-US" sz="1300" dirty="0">
                <a:solidFill>
                  <a:srgbClr val="595959"/>
                </a:solidFill>
                <a:latin typeface="Calibri" pitchFamily="34" charset="0"/>
                <a:ea typeface="Calibri" pitchFamily="34" charset="-122"/>
                <a:cs typeface="Calibri" pitchFamily="34" charset="-120"/>
              </a:rPr>
              <a:t>Not new products: extensions of 360 Pattern Review, Clinical Chart Validation and the AI governance program</a:t>
            </a:r>
            <a:endParaRPr lang="en-US" sz="1300" dirty="0"/>
          </a:p>
        </p:txBody>
      </p:sp>
      <p:sp>
        <p:nvSpPr>
          <p:cNvPr id="4" name="Shape 2"/>
          <p:cNvSpPr/>
          <p:nvPr/>
        </p:nvSpPr>
        <p:spPr>
          <a:xfrm>
            <a:off x="8247888" y="246888"/>
            <a:ext cx="512064" cy="512064"/>
          </a:xfrm>
          <a:prstGeom prst="ellipse">
            <a:avLst/>
          </a:prstGeom>
          <a:ln w="12700">
            <a:solidFill>
              <a:srgbClr val="CADCFC"/>
            </a:solidFill>
            <a:prstDash val="solid"/>
          </a:ln>
        </p:spPr>
      </p:sp>
      <p:sp>
        <p:nvSpPr>
          <p:cNvPr id="5" name="Shape 3"/>
          <p:cNvSpPr/>
          <p:nvPr/>
        </p:nvSpPr>
        <p:spPr>
          <a:xfrm>
            <a:off x="8334939" y="333939"/>
            <a:ext cx="337962" cy="337962"/>
          </a:xfrm>
          <a:prstGeom prst="ellipse">
            <a:avLst/>
          </a:prstGeom>
          <a:ln w="12700">
            <a:solidFill>
              <a:srgbClr val="CADCFC"/>
            </a:solidFill>
            <a:prstDash val="solid"/>
          </a:ln>
        </p:spPr>
      </p:sp>
      <p:sp>
        <p:nvSpPr>
          <p:cNvPr id="6" name="Shape 4"/>
          <p:cNvSpPr/>
          <p:nvPr/>
        </p:nvSpPr>
        <p:spPr>
          <a:xfrm>
            <a:off x="8419429" y="418429"/>
            <a:ext cx="168981" cy="168981"/>
          </a:xfrm>
          <a:prstGeom prst="ellipse">
            <a:avLst/>
          </a:prstGeom>
          <a:ln w="12700">
            <a:solidFill>
              <a:srgbClr val="CADCFC"/>
            </a:solidFill>
            <a:prstDash val="solid"/>
          </a:ln>
        </p:spPr>
      </p:sp>
      <p:sp>
        <p:nvSpPr>
          <p:cNvPr id="7" name="Shape 5"/>
          <p:cNvSpPr/>
          <p:nvPr/>
        </p:nvSpPr>
        <p:spPr>
          <a:xfrm>
            <a:off x="8531352" y="329184"/>
            <a:ext cx="164592" cy="164592"/>
          </a:xfrm>
          <a:prstGeom prst="ellipse">
            <a:avLst/>
          </a:prstGeom>
          <a:solidFill>
            <a:srgbClr val="B2182B"/>
          </a:solidFill>
          <a:ln w="12700">
            <a:solidFill>
              <a:srgbClr val="B2182B"/>
            </a:solidFill>
            <a:prstDash val="solid"/>
          </a:ln>
        </p:spPr>
      </p:sp>
      <p:sp>
        <p:nvSpPr>
          <p:cNvPr id="8" name="Text 6"/>
          <p:cNvSpPr txBox="1"/>
          <p:nvPr/>
        </p:nvSpPr>
        <p:spPr>
          <a:xfrm>
            <a:off x="457200" y="1188720"/>
            <a:ext cx="1508760" cy="292608"/>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Option</a:t>
            </a:r>
            <a:endParaRPr lang="en-US" sz="1300" dirty="0"/>
          </a:p>
        </p:txBody>
      </p:sp>
      <p:sp>
        <p:nvSpPr>
          <p:cNvPr id="9" name="Text 7"/>
          <p:cNvSpPr txBox="1"/>
          <p:nvPr/>
        </p:nvSpPr>
        <p:spPr>
          <a:xfrm>
            <a:off x="2057400" y="1188720"/>
            <a:ext cx="2011680" cy="292608"/>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Already at Cotiviti</a:t>
            </a:r>
            <a:endParaRPr lang="en-US" sz="1300" dirty="0"/>
          </a:p>
        </p:txBody>
      </p:sp>
      <p:sp>
        <p:nvSpPr>
          <p:cNvPr id="10" name="Text 8"/>
          <p:cNvSpPr txBox="1"/>
          <p:nvPr/>
        </p:nvSpPr>
        <p:spPr>
          <a:xfrm>
            <a:off x="4160520" y="1188720"/>
            <a:ext cx="2560320" cy="292608"/>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Proposed delta</a:t>
            </a:r>
            <a:endParaRPr lang="en-US" sz="1300" dirty="0"/>
          </a:p>
        </p:txBody>
      </p:sp>
      <p:sp>
        <p:nvSpPr>
          <p:cNvPr id="11" name="Text 9"/>
          <p:cNvSpPr txBox="1"/>
          <p:nvPr/>
        </p:nvSpPr>
        <p:spPr>
          <a:xfrm>
            <a:off x="6812280" y="1188720"/>
            <a:ext cx="1874520" cy="292608"/>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Pilot gate</a:t>
            </a:r>
            <a:endParaRPr lang="en-US" sz="1300" dirty="0"/>
          </a:p>
        </p:txBody>
      </p:sp>
      <p:sp>
        <p:nvSpPr>
          <p:cNvPr id="12" name="Shape 10"/>
          <p:cNvSpPr/>
          <p:nvPr/>
        </p:nvSpPr>
        <p:spPr>
          <a:xfrm>
            <a:off x="457200" y="1536192"/>
            <a:ext cx="8229600" cy="859536"/>
          </a:xfrm>
          <a:prstGeom prst="roundRect">
            <a:avLst>
              <a:gd name="adj" fmla="val 8511"/>
            </a:avLst>
          </a:prstGeom>
          <a:solidFill>
            <a:srgbClr val="F7F8FC"/>
          </a:solidFill>
          <a:ln w="12700">
            <a:solidFill>
              <a:srgbClr val="F7F8FC"/>
            </a:solidFill>
            <a:prstDash val="solid"/>
          </a:ln>
        </p:spPr>
      </p:sp>
      <p:sp>
        <p:nvSpPr>
          <p:cNvPr id="13" name="Text 11"/>
          <p:cNvSpPr txBox="1"/>
          <p:nvPr/>
        </p:nvSpPr>
        <p:spPr>
          <a:xfrm>
            <a:off x="530352" y="1581912"/>
            <a:ext cx="1362456" cy="768096"/>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1. Evidence-and-abstention layer</a:t>
            </a:r>
            <a:endParaRPr lang="en-US" sz="1200" dirty="0"/>
          </a:p>
        </p:txBody>
      </p:sp>
      <p:sp>
        <p:nvSpPr>
          <p:cNvPr id="14" name="Text 12"/>
          <p:cNvSpPr txBox="1"/>
          <p:nvPr/>
        </p:nvSpPr>
        <p:spPr>
          <a:xfrm>
            <a:off x="2130552" y="1581912"/>
            <a:ext cx="1865376" cy="768096"/>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Clinical Chart Validation: ML-prioritised charts, specialist review; 360 Pattern Review leads</a:t>
            </a:r>
            <a:endParaRPr lang="en-US" sz="1050" dirty="0"/>
          </a:p>
        </p:txBody>
      </p:sp>
      <p:sp>
        <p:nvSpPr>
          <p:cNvPr id="15" name="Text 13"/>
          <p:cNvSpPr txBox="1"/>
          <p:nvPr/>
        </p:nvSpPr>
        <p:spPr>
          <a:xfrm>
            <a:off x="4233672" y="1581912"/>
            <a:ext cx="2414016" cy="768096"/>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Agent returns cited facts and missing-evidence checks for a lead; critic verifies; packet marked REVIEW or WITHHOLD; never a determination</a:t>
            </a:r>
            <a:endParaRPr lang="en-US" sz="1050" dirty="0"/>
          </a:p>
        </p:txBody>
      </p:sp>
      <p:sp>
        <p:nvSpPr>
          <p:cNvPr id="16" name="Text 14"/>
          <p:cNvSpPr txBox="1"/>
          <p:nvPr/>
        </p:nvSpPr>
        <p:spPr>
          <a:xfrm>
            <a:off x="6885432" y="1581912"/>
            <a:ext cx="1728216" cy="768096"/>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6-week shadow mode: citation coverage, unsupported-claim rate, reviewer minutes, edit rate, overturn rate</a:t>
            </a:r>
            <a:endParaRPr lang="en-US" sz="1050" dirty="0"/>
          </a:p>
        </p:txBody>
      </p:sp>
      <p:sp>
        <p:nvSpPr>
          <p:cNvPr id="17" name="Shape 15"/>
          <p:cNvSpPr/>
          <p:nvPr/>
        </p:nvSpPr>
        <p:spPr>
          <a:xfrm>
            <a:off x="457200" y="2468880"/>
            <a:ext cx="8229600" cy="859536"/>
          </a:xfrm>
          <a:prstGeom prst="roundRect">
            <a:avLst>
              <a:gd name="adj" fmla="val 8511"/>
            </a:avLst>
          </a:prstGeom>
          <a:solidFill>
            <a:srgbClr val="F2F5FB"/>
          </a:solidFill>
          <a:ln w="12700">
            <a:solidFill>
              <a:srgbClr val="F2F5FB"/>
            </a:solidFill>
            <a:prstDash val="solid"/>
          </a:ln>
        </p:spPr>
      </p:sp>
      <p:sp>
        <p:nvSpPr>
          <p:cNvPr id="18" name="Text 16"/>
          <p:cNvSpPr txBox="1"/>
          <p:nvPr/>
        </p:nvSpPr>
        <p:spPr>
          <a:xfrm>
            <a:off x="530352" y="2514600"/>
            <a:ext cx="1362456" cy="768096"/>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2. Time-aware change-point signals</a:t>
            </a:r>
            <a:endParaRPr lang="en-US" sz="1200" dirty="0"/>
          </a:p>
        </p:txBody>
      </p:sp>
      <p:sp>
        <p:nvSpPr>
          <p:cNvPr id="19" name="Text 17"/>
          <p:cNvSpPr txBox="1"/>
          <p:nvPr/>
        </p:nvSpPr>
        <p:spPr>
          <a:xfrm>
            <a:off x="2130552" y="2514600"/>
            <a:ext cx="1865376" cy="768096"/>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360 Pattern Review: provider scoring with AI and expert rules, prepay and postpay</a:t>
            </a:r>
            <a:endParaRPr lang="en-US" sz="1050" dirty="0"/>
          </a:p>
        </p:txBody>
      </p:sp>
      <p:sp>
        <p:nvSpPr>
          <p:cNvPr id="20" name="Text 18"/>
          <p:cNvSpPr txBox="1"/>
          <p:nvPr/>
        </p:nvSpPr>
        <p:spPr>
          <a:xfrm>
            <a:off x="4233672" y="2514600"/>
            <a:ext cx="2414016" cy="768096"/>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Rolling-window volume and change-point detectors added to peer scoring; rank by detector agreement</a:t>
            </a:r>
            <a:endParaRPr lang="en-US" sz="1050" dirty="0"/>
          </a:p>
        </p:txBody>
      </p:sp>
      <p:sp>
        <p:nvSpPr>
          <p:cNvPr id="21" name="Text 19"/>
          <p:cNvSpPr txBox="1"/>
          <p:nvPr/>
        </p:nvSpPr>
        <p:spPr>
          <a:xfrm>
            <a:off x="6885432" y="2514600"/>
            <a:ext cx="1728216" cy="768096"/>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Leads accepted by FWA experts per quarter; precision of leads at audit</a:t>
            </a:r>
            <a:endParaRPr lang="en-US" sz="1050" dirty="0"/>
          </a:p>
        </p:txBody>
      </p:sp>
      <p:sp>
        <p:nvSpPr>
          <p:cNvPr id="22" name="Shape 20"/>
          <p:cNvSpPr/>
          <p:nvPr/>
        </p:nvSpPr>
        <p:spPr>
          <a:xfrm>
            <a:off x="457200" y="3401568"/>
            <a:ext cx="8229600" cy="859536"/>
          </a:xfrm>
          <a:prstGeom prst="roundRect">
            <a:avLst>
              <a:gd name="adj" fmla="val 8511"/>
            </a:avLst>
          </a:prstGeom>
          <a:solidFill>
            <a:srgbClr val="F7F8FC"/>
          </a:solidFill>
          <a:ln w="12700">
            <a:solidFill>
              <a:srgbClr val="F7F8FC"/>
            </a:solidFill>
            <a:prstDash val="solid"/>
          </a:ln>
        </p:spPr>
      </p:sp>
      <p:sp>
        <p:nvSpPr>
          <p:cNvPr id="23" name="Text 21"/>
          <p:cNvSpPr txBox="1"/>
          <p:nvPr/>
        </p:nvSpPr>
        <p:spPr>
          <a:xfrm>
            <a:off x="530352" y="3447288"/>
            <a:ext cx="1362456" cy="768096"/>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3. Release gate for models and agents</a:t>
            </a:r>
            <a:endParaRPr lang="en-US" sz="1200" dirty="0"/>
          </a:p>
        </p:txBody>
      </p:sp>
      <p:sp>
        <p:nvSpPr>
          <p:cNvPr id="24" name="Text 22"/>
          <p:cNvSpPr txBox="1"/>
          <p:nvPr/>
        </p:nvSpPr>
        <p:spPr>
          <a:xfrm>
            <a:off x="2130552" y="3447288"/>
            <a:ext cx="1865376" cy="768096"/>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AI Governance Committee since 2023; AI Risk Management Framework; AI Center of Excellence</a:t>
            </a:r>
            <a:endParaRPr lang="en-US" sz="1050" dirty="0"/>
          </a:p>
        </p:txBody>
      </p:sp>
      <p:sp>
        <p:nvSpPr>
          <p:cNvPr id="25" name="Text 23"/>
          <p:cNvSpPr txBox="1"/>
          <p:nvPr/>
        </p:nvSpPr>
        <p:spPr>
          <a:xfrm>
            <a:off x="4233672" y="3447288"/>
            <a:ext cx="2414016" cy="768096"/>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Product-level harness: pre-registered acceptance criteria, blinded and external validation, drift monitoring, overturn-rate audit</a:t>
            </a:r>
            <a:endParaRPr lang="en-US" sz="1050" dirty="0"/>
          </a:p>
        </p:txBody>
      </p:sp>
      <p:sp>
        <p:nvSpPr>
          <p:cNvPr id="26" name="Text 24"/>
          <p:cNvSpPr txBox="1"/>
          <p:nvPr/>
        </p:nvSpPr>
        <p:spPr>
          <a:xfrm>
            <a:off x="6885432" y="3447288"/>
            <a:ext cx="1728216" cy="768096"/>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Precision at K; recall on known schemes; false-positive cost; overturn rate</a:t>
            </a:r>
            <a:endParaRPr lang="en-US" sz="1050" dirty="0"/>
          </a:p>
        </p:txBody>
      </p:sp>
      <p:sp>
        <p:nvSpPr>
          <p:cNvPr id="27" name="Shape 25"/>
          <p:cNvSpPr/>
          <p:nvPr/>
        </p:nvSpPr>
        <p:spPr>
          <a:xfrm>
            <a:off x="457200" y="4370832"/>
            <a:ext cx="8229600" cy="457200"/>
          </a:xfrm>
          <a:prstGeom prst="roundRect">
            <a:avLst>
              <a:gd name="adj" fmla="val 16000"/>
            </a:avLst>
          </a:prstGeom>
          <a:solidFill>
            <a:srgbClr val="1E2761"/>
          </a:solidFill>
          <a:ln w="12700">
            <a:solidFill>
              <a:srgbClr val="1E2761"/>
            </a:solidFill>
            <a:prstDash val="solid"/>
          </a:ln>
        </p:spPr>
      </p:sp>
      <p:sp>
        <p:nvSpPr>
          <p:cNvPr id="28" name="Text 26"/>
          <p:cNvSpPr txBox="1"/>
          <p:nvPr/>
        </p:nvSpPr>
        <p:spPr>
          <a:xfrm>
            <a:off x="685800" y="4370832"/>
            <a:ext cx="7772400" cy="45720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Recommendation: </a:t>
            </a:r>
            <a:pPr indent="0" marL="0">
              <a:buNone/>
            </a:pPr>
            <a:r>
              <a:rPr lang="en-US" sz="1250" dirty="0">
                <a:solidFill>
                  <a:srgbClr val="CADCFC"/>
                </a:solidFill>
                <a:latin typeface="Calibri" pitchFamily="34" charset="0"/>
                <a:ea typeface="Calibri" pitchFamily="34" charset="-122"/>
                <a:cs typeface="Calibri" pitchFamily="34" charset="-120"/>
              </a:rPr>
              <a:t>start 3 and 1 together; Option 1 runs six weeks in shadow mode before any reviewer acts on its output.</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7680960" cy="548640"/>
          </a:xfrm>
          <a:prstGeom prst="rect">
            <a:avLst/>
          </a:prstGeom>
          <a:noFill/>
          <a:ln/>
        </p:spPr>
        <p:txBody>
          <a:bodyPr wrap="square" lIns="0" tIns="0" rIns="0" bIns="0" rtlCol="0" anchor="t"/>
          <a:lstStyle/>
          <a:p>
            <a:pPr indent="0" marL="0">
              <a:buNone/>
            </a:pPr>
            <a:r>
              <a:rPr lang="en-US" sz="3000" b="1" dirty="0">
                <a:solidFill>
                  <a:srgbClr val="1E2761"/>
                </a:solidFill>
                <a:latin typeface="Calibri" pitchFamily="34" charset="0"/>
                <a:ea typeface="Calibri" pitchFamily="34" charset="-122"/>
                <a:cs typeface="Calibri" pitchFamily="34" charset="-120"/>
              </a:rPr>
              <a:t>Proof of concept: Claims Anomaly Radar</a:t>
            </a:r>
            <a:endParaRPr lang="en-US" sz="3000" dirty="0"/>
          </a:p>
        </p:txBody>
      </p:sp>
      <p:sp>
        <p:nvSpPr>
          <p:cNvPr id="3" name="Text 1"/>
          <p:cNvSpPr txBox="1"/>
          <p:nvPr/>
        </p:nvSpPr>
        <p:spPr>
          <a:xfrm>
            <a:off x="457200" y="804672"/>
            <a:ext cx="7680960" cy="292608"/>
          </a:xfrm>
          <a:prstGeom prst="rect">
            <a:avLst/>
          </a:prstGeom>
          <a:noFill/>
          <a:ln/>
        </p:spPr>
        <p:txBody>
          <a:bodyPr wrap="square" lIns="0" tIns="0" rIns="0" bIns="0" rtlCol="0" anchor="t"/>
          <a:lstStyle/>
          <a:p>
            <a:pPr indent="0" marL="0">
              <a:buNone/>
            </a:pPr>
            <a:r>
              <a:rPr lang="en-US" sz="1300" dirty="0">
                <a:solidFill>
                  <a:srgbClr val="595959"/>
                </a:solidFill>
                <a:latin typeface="Calibri" pitchFamily="34" charset="0"/>
                <a:ea typeface="Calibri" pitchFamily="34" charset="-122"/>
                <a:cs typeface="Calibri" pitchFamily="34" charset="-120"/>
              </a:rPr>
              <a:t>A small version of Options 2 and 1, built to prove the pattern, not to ship</a:t>
            </a:r>
            <a:endParaRPr lang="en-US" sz="1300" dirty="0"/>
          </a:p>
        </p:txBody>
      </p:sp>
      <p:sp>
        <p:nvSpPr>
          <p:cNvPr id="4" name="Shape 2"/>
          <p:cNvSpPr/>
          <p:nvPr/>
        </p:nvSpPr>
        <p:spPr>
          <a:xfrm>
            <a:off x="8247888" y="246888"/>
            <a:ext cx="512064" cy="512064"/>
          </a:xfrm>
          <a:prstGeom prst="ellipse">
            <a:avLst/>
          </a:prstGeom>
          <a:ln w="12700">
            <a:solidFill>
              <a:srgbClr val="CADCFC"/>
            </a:solidFill>
            <a:prstDash val="solid"/>
          </a:ln>
        </p:spPr>
      </p:sp>
      <p:sp>
        <p:nvSpPr>
          <p:cNvPr id="5" name="Shape 3"/>
          <p:cNvSpPr/>
          <p:nvPr/>
        </p:nvSpPr>
        <p:spPr>
          <a:xfrm>
            <a:off x="8334939" y="333939"/>
            <a:ext cx="337962" cy="337962"/>
          </a:xfrm>
          <a:prstGeom prst="ellipse">
            <a:avLst/>
          </a:prstGeom>
          <a:ln w="12700">
            <a:solidFill>
              <a:srgbClr val="CADCFC"/>
            </a:solidFill>
            <a:prstDash val="solid"/>
          </a:ln>
        </p:spPr>
      </p:sp>
      <p:sp>
        <p:nvSpPr>
          <p:cNvPr id="6" name="Shape 4"/>
          <p:cNvSpPr/>
          <p:nvPr/>
        </p:nvSpPr>
        <p:spPr>
          <a:xfrm>
            <a:off x="8419429" y="418429"/>
            <a:ext cx="168981" cy="168981"/>
          </a:xfrm>
          <a:prstGeom prst="ellipse">
            <a:avLst/>
          </a:prstGeom>
          <a:ln w="12700">
            <a:solidFill>
              <a:srgbClr val="CADCFC"/>
            </a:solidFill>
            <a:prstDash val="solid"/>
          </a:ln>
        </p:spPr>
      </p:sp>
      <p:sp>
        <p:nvSpPr>
          <p:cNvPr id="7" name="Shape 5"/>
          <p:cNvSpPr/>
          <p:nvPr/>
        </p:nvSpPr>
        <p:spPr>
          <a:xfrm>
            <a:off x="8531352" y="329184"/>
            <a:ext cx="164592" cy="164592"/>
          </a:xfrm>
          <a:prstGeom prst="ellipse">
            <a:avLst/>
          </a:prstGeom>
          <a:solidFill>
            <a:srgbClr val="B2182B"/>
          </a:solidFill>
          <a:ln w="12700">
            <a:solidFill>
              <a:srgbClr val="B2182B"/>
            </a:solidFill>
            <a:prstDash val="solid"/>
          </a:ln>
        </p:spPr>
      </p:sp>
      <p:sp>
        <p:nvSpPr>
          <p:cNvPr id="8" name="Shape 6"/>
          <p:cNvSpPr/>
          <p:nvPr/>
        </p:nvSpPr>
        <p:spPr>
          <a:xfrm>
            <a:off x="457200" y="1188720"/>
            <a:ext cx="2560320" cy="475488"/>
          </a:xfrm>
          <a:prstGeom prst="roundRect">
            <a:avLst>
              <a:gd name="adj" fmla="val 15385"/>
            </a:avLst>
          </a:prstGeom>
          <a:solidFill>
            <a:srgbClr val="1E2761"/>
          </a:solidFill>
          <a:ln w="12700">
            <a:solidFill>
              <a:srgbClr val="1E2761"/>
            </a:solidFill>
            <a:prstDash val="solid"/>
          </a:ln>
        </p:spPr>
      </p:sp>
      <p:sp>
        <p:nvSpPr>
          <p:cNvPr id="9" name="Text 7"/>
          <p:cNvSpPr txBox="1"/>
          <p:nvPr/>
        </p:nvSpPr>
        <p:spPr>
          <a:xfrm>
            <a:off x="594360" y="1188720"/>
            <a:ext cx="2331720" cy="47548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Synthetic claims</a:t>
            </a:r>
            <a:endParaRPr lang="en-US" sz="1250" dirty="0"/>
          </a:p>
        </p:txBody>
      </p:sp>
      <p:sp>
        <p:nvSpPr>
          <p:cNvPr id="10" name="Text 8"/>
          <p:cNvSpPr txBox="1"/>
          <p:nvPr/>
        </p:nvSpPr>
        <p:spPr>
          <a:xfrm>
            <a:off x="3246120" y="1188720"/>
            <a:ext cx="5394960" cy="475488"/>
          </a:xfrm>
          <a:prstGeom prst="rect">
            <a:avLst/>
          </a:prstGeom>
          <a:noFill/>
          <a:ln/>
        </p:spPr>
        <p:txBody>
          <a:bodyPr wrap="square" lIns="0" tIns="0" rIns="0" bIns="0" rtlCol="0" anchor="ctr"/>
          <a:lstStyle/>
          <a:p>
            <a:pPr indent="0" marL="0">
              <a:buNone/>
            </a:pPr>
            <a:r>
              <a:rPr lang="en-US" sz="1150" dirty="0">
                <a:solidFill>
                  <a:srgbClr val="1F2937"/>
                </a:solidFill>
                <a:latin typeface="Calibri" pitchFamily="34" charset="0"/>
                <a:ea typeface="Calibri" pitchFamily="34" charset="-122"/>
                <a:cs typeface="Calibri" pitchFamily="34" charset="-120"/>
              </a:rPr>
              <a:t>295K lines, 240 providers x 24 months, 15 injected anomalies</a:t>
            </a:r>
            <a:endParaRPr lang="en-US" sz="1150" dirty="0"/>
          </a:p>
        </p:txBody>
      </p:sp>
      <p:sp>
        <p:nvSpPr>
          <p:cNvPr id="11" name="Shape 9"/>
          <p:cNvSpPr/>
          <p:nvPr/>
        </p:nvSpPr>
        <p:spPr>
          <a:xfrm>
            <a:off x="1627632" y="1664208"/>
            <a:ext cx="219456" cy="109728"/>
          </a:xfrm>
          <a:prstGeom prst="downArrow">
            <a:avLst/>
          </a:prstGeom>
          <a:solidFill>
            <a:srgbClr val="CADCFC"/>
          </a:solidFill>
          <a:ln w="12700">
            <a:solidFill>
              <a:srgbClr val="CADCFC"/>
            </a:solidFill>
            <a:prstDash val="solid"/>
          </a:ln>
        </p:spPr>
      </p:sp>
      <p:sp>
        <p:nvSpPr>
          <p:cNvPr id="12" name="Shape 10"/>
          <p:cNvSpPr/>
          <p:nvPr/>
        </p:nvSpPr>
        <p:spPr>
          <a:xfrm>
            <a:off x="457200" y="1773936"/>
            <a:ext cx="2560320" cy="475488"/>
          </a:xfrm>
          <a:prstGeom prst="roundRect">
            <a:avLst>
              <a:gd name="adj" fmla="val 15385"/>
            </a:avLst>
          </a:prstGeom>
          <a:solidFill>
            <a:srgbClr val="1E2761"/>
          </a:solidFill>
          <a:ln w="12700">
            <a:solidFill>
              <a:srgbClr val="1E2761"/>
            </a:solidFill>
            <a:prstDash val="solid"/>
          </a:ln>
        </p:spPr>
      </p:sp>
      <p:sp>
        <p:nvSpPr>
          <p:cNvPr id="13" name="Text 11"/>
          <p:cNvSpPr txBox="1"/>
          <p:nvPr/>
        </p:nvSpPr>
        <p:spPr>
          <a:xfrm>
            <a:off x="594360" y="1773936"/>
            <a:ext cx="2331720" cy="47548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Provider features</a:t>
            </a:r>
            <a:endParaRPr lang="en-US" sz="1250" dirty="0"/>
          </a:p>
        </p:txBody>
      </p:sp>
      <p:sp>
        <p:nvSpPr>
          <p:cNvPr id="14" name="Text 12"/>
          <p:cNvSpPr txBox="1"/>
          <p:nvPr/>
        </p:nvSpPr>
        <p:spPr>
          <a:xfrm>
            <a:off x="3246120" y="1773936"/>
            <a:ext cx="5394960" cy="475488"/>
          </a:xfrm>
          <a:prstGeom prst="rect">
            <a:avLst/>
          </a:prstGeom>
          <a:noFill/>
          <a:ln/>
        </p:spPr>
        <p:txBody>
          <a:bodyPr wrap="square" lIns="0" tIns="0" rIns="0" bIns="0" rtlCol="0" anchor="ctr"/>
          <a:lstStyle/>
          <a:p>
            <a:pPr indent="0" marL="0">
              <a:buNone/>
            </a:pPr>
            <a:r>
              <a:rPr lang="en-US" sz="1150" dirty="0">
                <a:solidFill>
                  <a:srgbClr val="1F2937"/>
                </a:solidFill>
                <a:latin typeface="Calibri" pitchFamily="34" charset="0"/>
                <a:ea typeface="Calibri" pitchFamily="34" charset="-122"/>
                <a:cs typeface="Calibri" pitchFamily="34" charset="-120"/>
              </a:rPr>
              <a:t>E/M mix, level-5 share, modifier-25 rate, duplicates, de-duplicated volume, variability, paid per visit</a:t>
            </a:r>
            <a:endParaRPr lang="en-US" sz="1150" dirty="0"/>
          </a:p>
        </p:txBody>
      </p:sp>
      <p:sp>
        <p:nvSpPr>
          <p:cNvPr id="15" name="Shape 13"/>
          <p:cNvSpPr/>
          <p:nvPr/>
        </p:nvSpPr>
        <p:spPr>
          <a:xfrm>
            <a:off x="1627632" y="2249424"/>
            <a:ext cx="219456" cy="109728"/>
          </a:xfrm>
          <a:prstGeom prst="downArrow">
            <a:avLst/>
          </a:prstGeom>
          <a:solidFill>
            <a:srgbClr val="CADCFC"/>
          </a:solidFill>
          <a:ln w="12700">
            <a:solidFill>
              <a:srgbClr val="CADCFC"/>
            </a:solidFill>
            <a:prstDash val="solid"/>
          </a:ln>
        </p:spPr>
      </p:sp>
      <p:sp>
        <p:nvSpPr>
          <p:cNvPr id="16" name="Shape 14"/>
          <p:cNvSpPr/>
          <p:nvPr/>
        </p:nvSpPr>
        <p:spPr>
          <a:xfrm>
            <a:off x="457200" y="2359152"/>
            <a:ext cx="2560320" cy="475488"/>
          </a:xfrm>
          <a:prstGeom prst="roundRect">
            <a:avLst>
              <a:gd name="adj" fmla="val 15385"/>
            </a:avLst>
          </a:prstGeom>
          <a:solidFill>
            <a:srgbClr val="B2182B"/>
          </a:solidFill>
          <a:ln w="12700">
            <a:solidFill>
              <a:srgbClr val="B2182B"/>
            </a:solidFill>
            <a:prstDash val="solid"/>
          </a:ln>
        </p:spPr>
      </p:sp>
      <p:sp>
        <p:nvSpPr>
          <p:cNvPr id="17" name="Text 15"/>
          <p:cNvSpPr txBox="1"/>
          <p:nvPr/>
        </p:nvSpPr>
        <p:spPr>
          <a:xfrm>
            <a:off x="594360" y="2359152"/>
            <a:ext cx="2331720" cy="47548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Three complementary detectors</a:t>
            </a:r>
            <a:endParaRPr lang="en-US" sz="1250" dirty="0"/>
          </a:p>
        </p:txBody>
      </p:sp>
      <p:sp>
        <p:nvSpPr>
          <p:cNvPr id="18" name="Text 16"/>
          <p:cNvSpPr txBox="1"/>
          <p:nvPr/>
        </p:nvSpPr>
        <p:spPr>
          <a:xfrm>
            <a:off x="3246120" y="2359152"/>
            <a:ext cx="5394960" cy="475488"/>
          </a:xfrm>
          <a:prstGeom prst="rect">
            <a:avLst/>
          </a:prstGeom>
          <a:noFill/>
          <a:ln/>
        </p:spPr>
        <p:txBody>
          <a:bodyPr wrap="square" lIns="0" tIns="0" rIns="0" bIns="0" rtlCol="0" anchor="ctr"/>
          <a:lstStyle/>
          <a:p>
            <a:pPr indent="0" marL="0">
              <a:buNone/>
            </a:pPr>
            <a:r>
              <a:rPr lang="en-US" sz="1150" dirty="0">
                <a:solidFill>
                  <a:srgbClr val="1F2937"/>
                </a:solidFill>
                <a:latin typeface="Calibri" pitchFamily="34" charset="0"/>
                <a:ea typeface="Calibri" pitchFamily="34" charset="-122"/>
                <a:cs typeface="Calibri" pitchFamily="34" charset="-120"/>
              </a:rPr>
              <a:t>A: peer-group robust z   B: time series (spikes, level shift)   C: Isolation Forest</a:t>
            </a:r>
            <a:endParaRPr lang="en-US" sz="1150" dirty="0"/>
          </a:p>
        </p:txBody>
      </p:sp>
      <p:sp>
        <p:nvSpPr>
          <p:cNvPr id="19" name="Shape 17"/>
          <p:cNvSpPr/>
          <p:nvPr/>
        </p:nvSpPr>
        <p:spPr>
          <a:xfrm>
            <a:off x="1627632" y="2834640"/>
            <a:ext cx="219456" cy="109728"/>
          </a:xfrm>
          <a:prstGeom prst="downArrow">
            <a:avLst/>
          </a:prstGeom>
          <a:solidFill>
            <a:srgbClr val="CADCFC"/>
          </a:solidFill>
          <a:ln w="12700">
            <a:solidFill>
              <a:srgbClr val="CADCFC"/>
            </a:solidFill>
            <a:prstDash val="solid"/>
          </a:ln>
        </p:spPr>
      </p:sp>
      <p:sp>
        <p:nvSpPr>
          <p:cNvPr id="20" name="Shape 18"/>
          <p:cNvSpPr/>
          <p:nvPr/>
        </p:nvSpPr>
        <p:spPr>
          <a:xfrm>
            <a:off x="457200" y="2944368"/>
            <a:ext cx="2560320" cy="475488"/>
          </a:xfrm>
          <a:prstGeom prst="roundRect">
            <a:avLst>
              <a:gd name="adj" fmla="val 15385"/>
            </a:avLst>
          </a:prstGeom>
          <a:solidFill>
            <a:srgbClr val="1E2761"/>
          </a:solidFill>
          <a:ln w="12700">
            <a:solidFill>
              <a:srgbClr val="1E2761"/>
            </a:solidFill>
            <a:prstDash val="solid"/>
          </a:ln>
        </p:spPr>
      </p:sp>
      <p:sp>
        <p:nvSpPr>
          <p:cNvPr id="21" name="Text 19"/>
          <p:cNvSpPr txBox="1"/>
          <p:nvPr/>
        </p:nvSpPr>
        <p:spPr>
          <a:xfrm>
            <a:off x="594360" y="2944368"/>
            <a:ext cx="2331720" cy="47548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Consensus rank</a:t>
            </a:r>
            <a:endParaRPr lang="en-US" sz="1250" dirty="0"/>
          </a:p>
        </p:txBody>
      </p:sp>
      <p:sp>
        <p:nvSpPr>
          <p:cNvPr id="22" name="Text 20"/>
          <p:cNvSpPr txBox="1"/>
          <p:nvPr/>
        </p:nvSpPr>
        <p:spPr>
          <a:xfrm>
            <a:off x="3246120" y="2944368"/>
            <a:ext cx="5394960" cy="475488"/>
          </a:xfrm>
          <a:prstGeom prst="rect">
            <a:avLst/>
          </a:prstGeom>
          <a:noFill/>
          <a:ln/>
        </p:spPr>
        <p:txBody>
          <a:bodyPr wrap="square" lIns="0" tIns="0" rIns="0" bIns="0" rtlCol="0" anchor="ctr"/>
          <a:lstStyle/>
          <a:p>
            <a:pPr indent="0" marL="0">
              <a:buNone/>
            </a:pPr>
            <a:r>
              <a:rPr lang="en-US" sz="1150" dirty="0">
                <a:solidFill>
                  <a:srgbClr val="1F2937"/>
                </a:solidFill>
                <a:latin typeface="Calibri" pitchFamily="34" charset="0"/>
                <a:ea typeface="Calibri" pitchFamily="34" charset="-122"/>
                <a:cs typeface="Calibri" pitchFamily="34" charset="-120"/>
              </a:rPr>
              <a:t>Detectors agreeing, then signal strength; evidence packet per provider</a:t>
            </a:r>
            <a:endParaRPr lang="en-US" sz="1150" dirty="0"/>
          </a:p>
        </p:txBody>
      </p:sp>
      <p:sp>
        <p:nvSpPr>
          <p:cNvPr id="23" name="Shape 21"/>
          <p:cNvSpPr/>
          <p:nvPr/>
        </p:nvSpPr>
        <p:spPr>
          <a:xfrm>
            <a:off x="1627632" y="3419856"/>
            <a:ext cx="219456" cy="109728"/>
          </a:xfrm>
          <a:prstGeom prst="downArrow">
            <a:avLst/>
          </a:prstGeom>
          <a:solidFill>
            <a:srgbClr val="CADCFC"/>
          </a:solidFill>
          <a:ln w="12700">
            <a:solidFill>
              <a:srgbClr val="CADCFC"/>
            </a:solidFill>
            <a:prstDash val="solid"/>
          </a:ln>
        </p:spPr>
      </p:sp>
      <p:sp>
        <p:nvSpPr>
          <p:cNvPr id="24" name="Shape 22"/>
          <p:cNvSpPr/>
          <p:nvPr/>
        </p:nvSpPr>
        <p:spPr>
          <a:xfrm>
            <a:off x="457200" y="3529584"/>
            <a:ext cx="2560320" cy="475488"/>
          </a:xfrm>
          <a:prstGeom prst="roundRect">
            <a:avLst>
              <a:gd name="adj" fmla="val 15385"/>
            </a:avLst>
          </a:prstGeom>
          <a:solidFill>
            <a:srgbClr val="B2182B"/>
          </a:solidFill>
          <a:ln w="12700">
            <a:solidFill>
              <a:srgbClr val="B2182B"/>
            </a:solidFill>
            <a:prstDash val="solid"/>
          </a:ln>
        </p:spPr>
      </p:sp>
      <p:sp>
        <p:nvSpPr>
          <p:cNvPr id="25" name="Text 23"/>
          <p:cNvSpPr txBox="1"/>
          <p:nvPr/>
        </p:nvSpPr>
        <p:spPr>
          <a:xfrm>
            <a:off x="594360" y="3529584"/>
            <a:ext cx="2331720" cy="47548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Critic and disposition</a:t>
            </a:r>
            <a:endParaRPr lang="en-US" sz="1250" dirty="0"/>
          </a:p>
        </p:txBody>
      </p:sp>
      <p:sp>
        <p:nvSpPr>
          <p:cNvPr id="26" name="Text 24"/>
          <p:cNvSpPr txBox="1"/>
          <p:nvPr/>
        </p:nvSpPr>
        <p:spPr>
          <a:xfrm>
            <a:off x="3246120" y="3529584"/>
            <a:ext cx="5394960" cy="475488"/>
          </a:xfrm>
          <a:prstGeom prst="rect">
            <a:avLst/>
          </a:prstGeom>
          <a:noFill/>
          <a:ln/>
        </p:spPr>
        <p:txBody>
          <a:bodyPr wrap="square" lIns="0" tIns="0" rIns="0" bIns="0" rtlCol="0" anchor="ctr"/>
          <a:lstStyle/>
          <a:p>
            <a:pPr indent="0" marL="0">
              <a:buNone/>
            </a:pPr>
            <a:r>
              <a:rPr lang="en-US" sz="1150" dirty="0">
                <a:solidFill>
                  <a:srgbClr val="1F2937"/>
                </a:solidFill>
                <a:latin typeface="Calibri" pitchFamily="34" charset="0"/>
                <a:ea typeface="Calibri" pitchFamily="34" charset="-122"/>
                <a:cs typeface="Calibri" pitchFamily="34" charset="-120"/>
              </a:rPr>
              <a:t>Explainable signal, baseline, claim volume, corroboration, governing policy: REVIEW or WITHHOLD</a:t>
            </a:r>
            <a:endParaRPr lang="en-US" sz="1150" dirty="0"/>
          </a:p>
        </p:txBody>
      </p:sp>
      <p:sp>
        <p:nvSpPr>
          <p:cNvPr id="27" name="Shape 25"/>
          <p:cNvSpPr/>
          <p:nvPr/>
        </p:nvSpPr>
        <p:spPr>
          <a:xfrm>
            <a:off x="1627632" y="4005072"/>
            <a:ext cx="219456" cy="109728"/>
          </a:xfrm>
          <a:prstGeom prst="downArrow">
            <a:avLst/>
          </a:prstGeom>
          <a:solidFill>
            <a:srgbClr val="CADCFC"/>
          </a:solidFill>
          <a:ln w="12700">
            <a:solidFill>
              <a:srgbClr val="CADCFC"/>
            </a:solidFill>
            <a:prstDash val="solid"/>
          </a:ln>
        </p:spPr>
      </p:sp>
      <p:sp>
        <p:nvSpPr>
          <p:cNvPr id="28" name="Shape 26"/>
          <p:cNvSpPr/>
          <p:nvPr/>
        </p:nvSpPr>
        <p:spPr>
          <a:xfrm>
            <a:off x="457200" y="4114800"/>
            <a:ext cx="2560320" cy="475488"/>
          </a:xfrm>
          <a:prstGeom prst="roundRect">
            <a:avLst>
              <a:gd name="adj" fmla="val 15385"/>
            </a:avLst>
          </a:prstGeom>
          <a:solidFill>
            <a:srgbClr val="1E2761"/>
          </a:solidFill>
          <a:ln w="12700">
            <a:solidFill>
              <a:srgbClr val="1E2761"/>
            </a:solidFill>
            <a:prstDash val="solid"/>
          </a:ln>
        </p:spPr>
      </p:sp>
      <p:sp>
        <p:nvSpPr>
          <p:cNvPr id="29" name="Text 27"/>
          <p:cNvSpPr txBox="1"/>
          <p:nvPr/>
        </p:nvSpPr>
        <p:spPr>
          <a:xfrm>
            <a:off x="594360" y="4114800"/>
            <a:ext cx="2331720" cy="47548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Auditor brief + scorecard</a:t>
            </a:r>
            <a:endParaRPr lang="en-US" sz="1250" dirty="0"/>
          </a:p>
        </p:txBody>
      </p:sp>
      <p:sp>
        <p:nvSpPr>
          <p:cNvPr id="30" name="Text 28"/>
          <p:cNvSpPr txBox="1"/>
          <p:nvPr/>
        </p:nvSpPr>
        <p:spPr>
          <a:xfrm>
            <a:off x="3246120" y="4114800"/>
            <a:ext cx="5394960" cy="475488"/>
          </a:xfrm>
          <a:prstGeom prst="rect">
            <a:avLst/>
          </a:prstGeom>
          <a:noFill/>
          <a:ln/>
        </p:spPr>
        <p:txBody>
          <a:bodyPr wrap="square" lIns="0" tIns="0" rIns="0" bIns="0" rtlCol="0" anchor="ctr"/>
          <a:lstStyle/>
          <a:p>
            <a:pPr indent="0" marL="0">
              <a:buNone/>
            </a:pPr>
            <a:r>
              <a:rPr lang="en-US" sz="1150" dirty="0">
                <a:solidFill>
                  <a:srgbClr val="1F2937"/>
                </a:solidFill>
                <a:latin typeface="Calibri" pitchFamily="34" charset="0"/>
                <a:ea typeface="Calibri" pitchFamily="34" charset="-122"/>
                <a:cs typeface="Calibri" pitchFamily="34" charset="-120"/>
              </a:rPr>
              <a:t>Plain-English brief with policy and evidence to request; precision against ground truth</a:t>
            </a:r>
            <a:endParaRPr lang="en-US" sz="1150" dirty="0"/>
          </a:p>
        </p:txBody>
      </p:sp>
      <p:sp>
        <p:nvSpPr>
          <p:cNvPr id="31" name="Text 29"/>
          <p:cNvSpPr txBox="1"/>
          <p:nvPr/>
        </p:nvSpPr>
        <p:spPr>
          <a:xfrm>
            <a:off x="457200" y="4709160"/>
            <a:ext cx="8229600" cy="274320"/>
          </a:xfrm>
          <a:prstGeom prst="rect">
            <a:avLst/>
          </a:prstGeom>
          <a:noFill/>
          <a:ln/>
        </p:spPr>
        <p:txBody>
          <a:bodyPr wrap="square" lIns="0" tIns="0" rIns="0" bIns="0" rtlCol="0" anchor="ctr"/>
          <a:lstStyle/>
          <a:p>
            <a:pPr indent="0" marL="0">
              <a:buNone/>
            </a:pPr>
            <a:r>
              <a:rPr lang="en-US" sz="1050" i="1" dirty="0">
                <a:solidFill>
                  <a:srgbClr val="595959"/>
                </a:solidFill>
                <a:latin typeface="Calibri" pitchFamily="34" charset="0"/>
                <a:ea typeface="Calibri" pitchFamily="34" charset="-122"/>
                <a:cs typeface="Calibri" pitchFamily="34" charset="-120"/>
              </a:rPr>
              <a:t>One Python file, four dependencies, about six seconds per run, six tests. No PHI, no API keys. Ground truth is used only for scoring, never for detection.</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7680960" cy="548640"/>
          </a:xfrm>
          <a:prstGeom prst="rect">
            <a:avLst/>
          </a:prstGeom>
          <a:noFill/>
          <a:ln/>
        </p:spPr>
        <p:txBody>
          <a:bodyPr wrap="square" lIns="0" tIns="0" rIns="0" bIns="0" rtlCol="0" anchor="t"/>
          <a:lstStyle/>
          <a:p>
            <a:pPr indent="0" marL="0">
              <a:buNone/>
            </a:pPr>
            <a:r>
              <a:rPr lang="en-US" sz="3000" b="1" dirty="0">
                <a:solidFill>
                  <a:srgbClr val="1E2761"/>
                </a:solidFill>
                <a:latin typeface="Calibri" pitchFamily="34" charset="0"/>
                <a:ea typeface="Calibri" pitchFamily="34" charset="-122"/>
                <a:cs typeface="Calibri" pitchFamily="34" charset="-120"/>
              </a:rPr>
              <a:t>What the radar finds</a:t>
            </a:r>
            <a:endParaRPr lang="en-US" sz="3000" dirty="0"/>
          </a:p>
        </p:txBody>
      </p:sp>
      <p:sp>
        <p:nvSpPr>
          <p:cNvPr id="3" name="Shape 1"/>
          <p:cNvSpPr/>
          <p:nvPr/>
        </p:nvSpPr>
        <p:spPr>
          <a:xfrm>
            <a:off x="8247888" y="246888"/>
            <a:ext cx="512064" cy="512064"/>
          </a:xfrm>
          <a:prstGeom prst="ellipse">
            <a:avLst/>
          </a:prstGeom>
          <a:ln w="12700">
            <a:solidFill>
              <a:srgbClr val="CADCFC"/>
            </a:solidFill>
            <a:prstDash val="solid"/>
          </a:ln>
        </p:spPr>
      </p:sp>
      <p:sp>
        <p:nvSpPr>
          <p:cNvPr id="4" name="Shape 2"/>
          <p:cNvSpPr/>
          <p:nvPr/>
        </p:nvSpPr>
        <p:spPr>
          <a:xfrm>
            <a:off x="8334939" y="333939"/>
            <a:ext cx="337962" cy="337962"/>
          </a:xfrm>
          <a:prstGeom prst="ellipse">
            <a:avLst/>
          </a:prstGeom>
          <a:ln w="12700">
            <a:solidFill>
              <a:srgbClr val="CADCFC"/>
            </a:solidFill>
            <a:prstDash val="solid"/>
          </a:ln>
        </p:spPr>
      </p:sp>
      <p:sp>
        <p:nvSpPr>
          <p:cNvPr id="5" name="Shape 3"/>
          <p:cNvSpPr/>
          <p:nvPr/>
        </p:nvSpPr>
        <p:spPr>
          <a:xfrm>
            <a:off x="8419429" y="418429"/>
            <a:ext cx="168981" cy="168981"/>
          </a:xfrm>
          <a:prstGeom prst="ellipse">
            <a:avLst/>
          </a:prstGeom>
          <a:ln w="12700">
            <a:solidFill>
              <a:srgbClr val="CADCFC"/>
            </a:solidFill>
            <a:prstDash val="solid"/>
          </a:ln>
        </p:spPr>
      </p:sp>
      <p:sp>
        <p:nvSpPr>
          <p:cNvPr id="6" name="Shape 4"/>
          <p:cNvSpPr/>
          <p:nvPr/>
        </p:nvSpPr>
        <p:spPr>
          <a:xfrm>
            <a:off x="8531352" y="329184"/>
            <a:ext cx="164592" cy="164592"/>
          </a:xfrm>
          <a:prstGeom prst="ellipse">
            <a:avLst/>
          </a:prstGeom>
          <a:solidFill>
            <a:srgbClr val="B2182B"/>
          </a:solidFill>
          <a:ln w="12700">
            <a:solidFill>
              <a:srgbClr val="B2182B"/>
            </a:solidFill>
            <a:prstDash val="solid"/>
          </a:ln>
        </p:spPr>
      </p:sp>
      <p:pic>
        <p:nvPicPr>
          <p:cNvPr id="7" name="Image 0" descr="../poc/output/dashboard.png">    </p:cNvPr>
          <p:cNvPicPr>
            <a:picLocks noChangeAspect="1"/>
          </p:cNvPicPr>
          <p:nvPr/>
        </p:nvPicPr>
        <p:blipFill>
          <a:blip r:embed="rId1"/>
          <a:stretch>
            <a:fillRect/>
          </a:stretch>
        </p:blipFill>
        <p:spPr>
          <a:xfrm>
            <a:off x="457200" y="960120"/>
            <a:ext cx="5989320" cy="4059936"/>
          </a:xfrm>
          <a:prstGeom prst="rect">
            <a:avLst/>
          </a:prstGeom>
        </p:spPr>
      </p:pic>
      <p:sp>
        <p:nvSpPr>
          <p:cNvPr id="8" name="Shape 5"/>
          <p:cNvSpPr/>
          <p:nvPr/>
        </p:nvSpPr>
        <p:spPr>
          <a:xfrm>
            <a:off x="6675120" y="1097280"/>
            <a:ext cx="384048" cy="384048"/>
          </a:xfrm>
          <a:prstGeom prst="ellipse">
            <a:avLst/>
          </a:prstGeom>
          <a:solidFill>
            <a:srgbClr val="1E2761"/>
          </a:solidFill>
          <a:ln w="12700">
            <a:solidFill>
              <a:srgbClr val="1E2761"/>
            </a:solidFill>
            <a:prstDash val="solid"/>
          </a:ln>
        </p:spPr>
      </p:sp>
      <p:sp>
        <p:nvSpPr>
          <p:cNvPr id="9" name="Text 6"/>
          <p:cNvSpPr txBox="1"/>
          <p:nvPr/>
        </p:nvSpPr>
        <p:spPr>
          <a:xfrm>
            <a:off x="6675120" y="109728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a:t>
            </a:r>
            <a:endParaRPr lang="en-US" sz="1500" dirty="0"/>
          </a:p>
        </p:txBody>
      </p:sp>
      <p:sp>
        <p:nvSpPr>
          <p:cNvPr id="10" name="Text 7"/>
          <p:cNvSpPr txBox="1"/>
          <p:nvPr/>
        </p:nvSpPr>
        <p:spPr>
          <a:xfrm>
            <a:off x="7150608" y="1024128"/>
            <a:ext cx="1600200" cy="822960"/>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Peer view within specialty; providers flagged by two or more detectors are circled</a:t>
            </a:r>
            <a:endParaRPr lang="en-US" sz="1100" dirty="0"/>
          </a:p>
        </p:txBody>
      </p:sp>
      <p:sp>
        <p:nvSpPr>
          <p:cNvPr id="11" name="Shape 8"/>
          <p:cNvSpPr/>
          <p:nvPr/>
        </p:nvSpPr>
        <p:spPr>
          <a:xfrm>
            <a:off x="6675120" y="2057400"/>
            <a:ext cx="384048" cy="384048"/>
          </a:xfrm>
          <a:prstGeom prst="ellipse">
            <a:avLst/>
          </a:prstGeom>
          <a:solidFill>
            <a:srgbClr val="1E2761"/>
          </a:solidFill>
          <a:ln w="12700">
            <a:solidFill>
              <a:srgbClr val="1E2761"/>
            </a:solidFill>
            <a:prstDash val="solid"/>
          </a:ln>
        </p:spPr>
      </p:sp>
      <p:sp>
        <p:nvSpPr>
          <p:cNvPr id="12" name="Text 9"/>
          <p:cNvSpPr txBox="1"/>
          <p:nvPr/>
        </p:nvSpPr>
        <p:spPr>
          <a:xfrm>
            <a:off x="6675120" y="205740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a:t>
            </a:r>
            <a:endParaRPr lang="en-US" sz="1500" dirty="0"/>
          </a:p>
        </p:txBody>
      </p:sp>
      <p:sp>
        <p:nvSpPr>
          <p:cNvPr id="13" name="Text 10"/>
          <p:cNvSpPr txBox="1"/>
          <p:nvPr/>
        </p:nvSpPr>
        <p:spPr>
          <a:xfrm>
            <a:off x="7150608" y="1984248"/>
            <a:ext cx="1600200" cy="822960"/>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Consensus ranking; label shows how many detectors agree</a:t>
            </a:r>
            <a:endParaRPr lang="en-US" sz="1100" dirty="0"/>
          </a:p>
        </p:txBody>
      </p:sp>
      <p:sp>
        <p:nvSpPr>
          <p:cNvPr id="14" name="Shape 11"/>
          <p:cNvSpPr/>
          <p:nvPr/>
        </p:nvSpPr>
        <p:spPr>
          <a:xfrm>
            <a:off x="6675120" y="3017520"/>
            <a:ext cx="384048" cy="384048"/>
          </a:xfrm>
          <a:prstGeom prst="ellipse">
            <a:avLst/>
          </a:prstGeom>
          <a:solidFill>
            <a:srgbClr val="B2182B"/>
          </a:solidFill>
          <a:ln w="12700">
            <a:solidFill>
              <a:srgbClr val="B2182B"/>
            </a:solidFill>
            <a:prstDash val="solid"/>
          </a:ln>
        </p:spPr>
      </p:sp>
      <p:sp>
        <p:nvSpPr>
          <p:cNvPr id="15" name="Text 12"/>
          <p:cNvSpPr txBox="1"/>
          <p:nvPr/>
        </p:nvSpPr>
        <p:spPr>
          <a:xfrm>
            <a:off x="6675120" y="301752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a:t>
            </a:r>
            <a:endParaRPr lang="en-US" sz="1500" dirty="0"/>
          </a:p>
        </p:txBody>
      </p:sp>
      <p:sp>
        <p:nvSpPr>
          <p:cNvPr id="16" name="Text 13"/>
          <p:cNvSpPr txBox="1"/>
          <p:nvPr/>
        </p:nvSpPr>
        <p:spPr>
          <a:xfrm>
            <a:off x="7150608" y="2944368"/>
            <a:ext cx="1600200" cy="822960"/>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A four-month volume spike that a snapshot would miss</a:t>
            </a:r>
            <a:endParaRPr lang="en-US" sz="1100" dirty="0"/>
          </a:p>
        </p:txBody>
      </p:sp>
      <p:sp>
        <p:nvSpPr>
          <p:cNvPr id="17" name="Shape 14"/>
          <p:cNvSpPr/>
          <p:nvPr/>
        </p:nvSpPr>
        <p:spPr>
          <a:xfrm>
            <a:off x="6675120" y="3977640"/>
            <a:ext cx="384048" cy="384048"/>
          </a:xfrm>
          <a:prstGeom prst="ellipse">
            <a:avLst/>
          </a:prstGeom>
          <a:solidFill>
            <a:srgbClr val="B2182B"/>
          </a:solidFill>
          <a:ln w="12700">
            <a:solidFill>
              <a:srgbClr val="B2182B"/>
            </a:solidFill>
            <a:prstDash val="solid"/>
          </a:ln>
        </p:spPr>
      </p:sp>
      <p:sp>
        <p:nvSpPr>
          <p:cNvPr id="18" name="Text 15"/>
          <p:cNvSpPr txBox="1"/>
          <p:nvPr/>
        </p:nvSpPr>
        <p:spPr>
          <a:xfrm>
            <a:off x="6675120" y="397764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a:t>
            </a:r>
            <a:endParaRPr lang="en-US" sz="1500" dirty="0"/>
          </a:p>
        </p:txBody>
      </p:sp>
      <p:sp>
        <p:nvSpPr>
          <p:cNvPr id="19" name="Text 16"/>
          <p:cNvSpPr txBox="1"/>
          <p:nvPr/>
        </p:nvSpPr>
        <p:spPr>
          <a:xfrm>
            <a:off x="7150608" y="3904488"/>
            <a:ext cx="1600200" cy="822960"/>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An E/M level shift with the detected change point</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7680960" cy="548640"/>
          </a:xfrm>
          <a:prstGeom prst="rect">
            <a:avLst/>
          </a:prstGeom>
          <a:noFill/>
          <a:ln/>
        </p:spPr>
        <p:txBody>
          <a:bodyPr wrap="square" lIns="0" tIns="0" rIns="0" bIns="0" rtlCol="0" anchor="t"/>
          <a:lstStyle/>
          <a:p>
            <a:pPr indent="0" marL="0">
              <a:buNone/>
            </a:pPr>
            <a:r>
              <a:rPr lang="en-US" sz="3000" b="1" dirty="0">
                <a:solidFill>
                  <a:srgbClr val="1E2761"/>
                </a:solidFill>
                <a:latin typeface="Calibri" pitchFamily="34" charset="0"/>
                <a:ea typeface="Calibri" pitchFamily="34" charset="-122"/>
                <a:cs typeface="Calibri" pitchFamily="34" charset="-120"/>
              </a:rPr>
              <a:t>What the auditor sees</a:t>
            </a:r>
            <a:endParaRPr lang="en-US" sz="3000" dirty="0"/>
          </a:p>
        </p:txBody>
      </p:sp>
      <p:sp>
        <p:nvSpPr>
          <p:cNvPr id="3" name="Text 1"/>
          <p:cNvSpPr txBox="1"/>
          <p:nvPr/>
        </p:nvSpPr>
        <p:spPr>
          <a:xfrm>
            <a:off x="457200" y="804672"/>
            <a:ext cx="7680960" cy="292608"/>
          </a:xfrm>
          <a:prstGeom prst="rect">
            <a:avLst/>
          </a:prstGeom>
          <a:noFill/>
          <a:ln/>
        </p:spPr>
        <p:txBody>
          <a:bodyPr wrap="square" lIns="0" tIns="0" rIns="0" bIns="0" rtlCol="0" anchor="t"/>
          <a:lstStyle/>
          <a:p>
            <a:pPr indent="0" marL="0">
              <a:buNone/>
            </a:pPr>
            <a:r>
              <a:rPr lang="en-US" sz="1300" dirty="0">
                <a:solidFill>
                  <a:srgbClr val="595959"/>
                </a:solidFill>
                <a:latin typeface="Calibri" pitchFamily="34" charset="0"/>
                <a:ea typeface="Calibri" pitchFamily="34" charset="-122"/>
                <a:cs typeface="Calibri" pitchFamily="34" charset="-120"/>
              </a:rPr>
              <a:t>python claims_radar.py --provider P0039   |   python claims_radar.py --provider P0036</a:t>
            </a:r>
            <a:endParaRPr lang="en-US" sz="1300" dirty="0"/>
          </a:p>
        </p:txBody>
      </p:sp>
      <p:sp>
        <p:nvSpPr>
          <p:cNvPr id="4" name="Shape 2"/>
          <p:cNvSpPr/>
          <p:nvPr/>
        </p:nvSpPr>
        <p:spPr>
          <a:xfrm>
            <a:off x="8247888" y="246888"/>
            <a:ext cx="512064" cy="512064"/>
          </a:xfrm>
          <a:prstGeom prst="ellipse">
            <a:avLst/>
          </a:prstGeom>
          <a:ln w="12700">
            <a:solidFill>
              <a:srgbClr val="CADCFC"/>
            </a:solidFill>
            <a:prstDash val="solid"/>
          </a:ln>
        </p:spPr>
      </p:sp>
      <p:sp>
        <p:nvSpPr>
          <p:cNvPr id="5" name="Shape 3"/>
          <p:cNvSpPr/>
          <p:nvPr/>
        </p:nvSpPr>
        <p:spPr>
          <a:xfrm>
            <a:off x="8334939" y="333939"/>
            <a:ext cx="337962" cy="337962"/>
          </a:xfrm>
          <a:prstGeom prst="ellipse">
            <a:avLst/>
          </a:prstGeom>
          <a:ln w="12700">
            <a:solidFill>
              <a:srgbClr val="CADCFC"/>
            </a:solidFill>
            <a:prstDash val="solid"/>
          </a:ln>
        </p:spPr>
      </p:sp>
      <p:sp>
        <p:nvSpPr>
          <p:cNvPr id="6" name="Shape 4"/>
          <p:cNvSpPr/>
          <p:nvPr/>
        </p:nvSpPr>
        <p:spPr>
          <a:xfrm>
            <a:off x="8419429" y="418429"/>
            <a:ext cx="168981" cy="168981"/>
          </a:xfrm>
          <a:prstGeom prst="ellipse">
            <a:avLst/>
          </a:prstGeom>
          <a:ln w="12700">
            <a:solidFill>
              <a:srgbClr val="CADCFC"/>
            </a:solidFill>
            <a:prstDash val="solid"/>
          </a:ln>
        </p:spPr>
      </p:sp>
      <p:sp>
        <p:nvSpPr>
          <p:cNvPr id="7" name="Shape 5"/>
          <p:cNvSpPr/>
          <p:nvPr/>
        </p:nvSpPr>
        <p:spPr>
          <a:xfrm>
            <a:off x="8531352" y="329184"/>
            <a:ext cx="164592" cy="164592"/>
          </a:xfrm>
          <a:prstGeom prst="ellipse">
            <a:avLst/>
          </a:prstGeom>
          <a:solidFill>
            <a:srgbClr val="B2182B"/>
          </a:solidFill>
          <a:ln w="12700">
            <a:solidFill>
              <a:srgbClr val="B2182B"/>
            </a:solidFill>
            <a:prstDash val="solid"/>
          </a:ln>
        </p:spPr>
      </p:sp>
      <p:sp>
        <p:nvSpPr>
          <p:cNvPr id="8" name="Shape 6"/>
          <p:cNvSpPr/>
          <p:nvPr/>
        </p:nvSpPr>
        <p:spPr>
          <a:xfrm>
            <a:off x="457200" y="1188720"/>
            <a:ext cx="5394960" cy="2331720"/>
          </a:xfrm>
          <a:prstGeom prst="roundRect">
            <a:avLst>
              <a:gd name="adj" fmla="val 3137"/>
            </a:avLst>
          </a:prstGeom>
          <a:solidFill>
            <a:srgbClr val="F2F5FB"/>
          </a:solidFill>
          <a:ln w="12700">
            <a:solidFill>
              <a:srgbClr val="F2F5FB"/>
            </a:solidFill>
            <a:prstDash val="solid"/>
          </a:ln>
        </p:spPr>
      </p:sp>
      <p:sp>
        <p:nvSpPr>
          <p:cNvPr id="9" name="Text 7"/>
          <p:cNvSpPr txBox="1"/>
          <p:nvPr/>
        </p:nvSpPr>
        <p:spPr>
          <a:xfrm>
            <a:off x="685800" y="1298448"/>
            <a:ext cx="4937760" cy="2148840"/>
          </a:xfrm>
          <a:prstGeom prst="rect">
            <a:avLst/>
          </a:prstGeom>
          <a:noFill/>
          <a:ln/>
        </p:spPr>
        <p:txBody>
          <a:bodyPr wrap="square" lIns="0" tIns="0" rIns="0" bIns="0" rtlCol="0" anchor="t"/>
          <a:lstStyle/>
          <a:p>
            <a:pPr indent="0" marL="0">
              <a:spcAft>
                <a:spcPts val="400"/>
              </a:spcAft>
              <a:buNone/>
            </a:pPr>
            <a:r>
              <a:rPr lang="en-US" sz="1150" b="1" dirty="0">
                <a:solidFill>
                  <a:srgbClr val="1E2761"/>
                </a:solidFill>
                <a:latin typeface="Calibri" pitchFamily="34" charset="0"/>
                <a:ea typeface="Calibri" pitchFamily="34" charset="-122"/>
                <a:cs typeface="Calibri" pitchFamily="34" charset="-120"/>
              </a:rPr>
              <a:t>P0039 (Family Medicine), 3 of 3 detectors.  Disposition: REVIEW</a:t>
            </a:r>
            <a:endParaRPr lang="en-US" sz="1150" dirty="0"/>
          </a:p>
          <a:p>
            <a:pPr indent="0" marL="0">
              <a:buNone/>
            </a:pPr>
            <a:r>
              <a:rPr lang="en-US" sz="1150" b="1" dirty="0">
                <a:solidFill>
                  <a:srgbClr val="1F2937"/>
                </a:solidFill>
                <a:latin typeface="Calibri" pitchFamily="34" charset="0"/>
                <a:ea typeface="Calibri" pitchFamily="34" charset="-122"/>
                <a:cs typeface="Calibri" pitchFamily="34" charset="-120"/>
              </a:rPr>
              <a:t>Primary pattern: </a:t>
            </a:r>
            <a:pPr indent="0" marL="0">
              <a:spcAft>
                <a:spcPts val="400"/>
              </a:spcAft>
              <a:buNone/>
            </a:pPr>
            <a:r>
              <a:rPr lang="en-US" sz="1150" dirty="0">
                <a:solidFill>
                  <a:srgbClr val="1F2937"/>
                </a:solidFill>
                <a:latin typeface="Calibri" pitchFamily="34" charset="0"/>
                <a:ea typeface="Calibri" pitchFamily="34" charset="-122"/>
                <a:cs typeface="Calibri" pitchFamily="34" charset="-120"/>
              </a:rPr>
              <a:t>share of level 4-5 E/M visits rose from 0.45 to 0.76 starting 2025-01 (two-proportion z = 13.7).</a:t>
            </a:r>
            <a:endParaRPr lang="en-US" sz="1150" dirty="0"/>
          </a:p>
          <a:p>
            <a:pPr indent="0" marL="0">
              <a:buNone/>
            </a:pPr>
            <a:r>
              <a:rPr lang="en-US" sz="1150" b="1" dirty="0">
                <a:solidFill>
                  <a:srgbClr val="1F2937"/>
                </a:solidFill>
                <a:latin typeface="Calibri" pitchFamily="34" charset="0"/>
                <a:ea typeface="Calibri" pitchFamily="34" charset="-122"/>
                <a:cs typeface="Calibri" pitchFamily="34" charset="-120"/>
              </a:rPr>
              <a:t>Governing policy: </a:t>
            </a:r>
            <a:pPr indent="0" marL="0">
              <a:spcAft>
                <a:spcPts val="400"/>
              </a:spcAft>
              <a:buNone/>
            </a:pPr>
            <a:r>
              <a:rPr lang="en-US" sz="1150" dirty="0">
                <a:solidFill>
                  <a:srgbClr val="1F2937"/>
                </a:solidFill>
                <a:latin typeface="Calibri" pitchFamily="34" charset="0"/>
                <a:ea typeface="Calibri" pitchFamily="34" charset="-122"/>
                <a:cs typeface="Calibri" pitchFamily="34" charset="-120"/>
              </a:rPr>
              <a:t>CMS Claims Processing Manual Ch. 12 Sec. 30.6; AMA 2021 E/M guidelines.</a:t>
            </a:r>
            <a:endParaRPr lang="en-US" sz="1150" dirty="0"/>
          </a:p>
          <a:p>
            <a:pPr indent="0" marL="0">
              <a:buNone/>
            </a:pPr>
            <a:r>
              <a:rPr lang="en-US" sz="1150" b="1" dirty="0">
                <a:solidFill>
                  <a:srgbClr val="1F2937"/>
                </a:solidFill>
                <a:latin typeface="Calibri" pitchFamily="34" charset="0"/>
                <a:ea typeface="Calibri" pitchFamily="34" charset="-122"/>
                <a:cs typeface="Calibri" pitchFamily="34" charset="-120"/>
              </a:rPr>
              <a:t>Evidence to request: </a:t>
            </a:r>
            <a:pPr indent="0" marL="0">
              <a:spcAft>
                <a:spcPts val="400"/>
              </a:spcAft>
              <a:buNone/>
            </a:pPr>
            <a:r>
              <a:rPr lang="en-US" sz="1150" dirty="0">
                <a:solidFill>
                  <a:srgbClr val="1F2937"/>
                </a:solidFill>
                <a:latin typeface="Calibri" pitchFamily="34" charset="0"/>
                <a:ea typeface="Calibri" pitchFamily="34" charset="-122"/>
                <a:cs typeface="Calibri" pitchFamily="34" charset="-120"/>
              </a:rPr>
              <a:t>documentation for 30 level 4-5 visits dated after the change point.</a:t>
            </a:r>
            <a:endParaRPr lang="en-US" sz="1150" dirty="0"/>
          </a:p>
          <a:p>
            <a:pPr indent="0" marL="0">
              <a:buNone/>
            </a:pPr>
            <a:r>
              <a:rPr lang="en-US" sz="1150" i="1" dirty="0">
                <a:solidFill>
                  <a:srgbClr val="595959"/>
                </a:solidFill>
                <a:latin typeface="Calibri" pitchFamily="34" charset="0"/>
                <a:ea typeface="Calibri" pitchFamily="34" charset="-122"/>
                <a:cs typeface="Calibri" pitchFamily="34" charset="-120"/>
              </a:rPr>
              <a:t>A human reviewer decides.</a:t>
            </a:r>
            <a:endParaRPr lang="en-US" sz="1150" dirty="0"/>
          </a:p>
        </p:txBody>
      </p:sp>
      <p:sp>
        <p:nvSpPr>
          <p:cNvPr id="10" name="Shape 8"/>
          <p:cNvSpPr/>
          <p:nvPr/>
        </p:nvSpPr>
        <p:spPr>
          <a:xfrm>
            <a:off x="457200" y="3657600"/>
            <a:ext cx="5394960" cy="1188720"/>
          </a:xfrm>
          <a:prstGeom prst="roundRect">
            <a:avLst>
              <a:gd name="adj" fmla="val 6154"/>
            </a:avLst>
          </a:prstGeom>
          <a:solidFill>
            <a:srgbClr val="FBEFEF"/>
          </a:solidFill>
          <a:ln w="12700">
            <a:solidFill>
              <a:srgbClr val="FBEFEF"/>
            </a:solidFill>
            <a:prstDash val="solid"/>
          </a:ln>
        </p:spPr>
      </p:sp>
      <p:sp>
        <p:nvSpPr>
          <p:cNvPr id="11" name="Text 9"/>
          <p:cNvSpPr txBox="1"/>
          <p:nvPr/>
        </p:nvSpPr>
        <p:spPr>
          <a:xfrm>
            <a:off x="685800" y="3749040"/>
            <a:ext cx="4937760" cy="1005840"/>
          </a:xfrm>
          <a:prstGeom prst="rect">
            <a:avLst/>
          </a:prstGeom>
          <a:noFill/>
          <a:ln/>
        </p:spPr>
        <p:txBody>
          <a:bodyPr wrap="square" lIns="0" tIns="0" rIns="0" bIns="0" rtlCol="0" anchor="t"/>
          <a:lstStyle/>
          <a:p>
            <a:pPr indent="0" marL="0">
              <a:spcAft>
                <a:spcPts val="400"/>
              </a:spcAft>
              <a:buNone/>
            </a:pPr>
            <a:r>
              <a:rPr lang="en-US" sz="1150" b="1" dirty="0">
                <a:solidFill>
                  <a:srgbClr val="B2182B"/>
                </a:solidFill>
                <a:latin typeface="Calibri" pitchFamily="34" charset="0"/>
                <a:ea typeface="Calibri" pitchFamily="34" charset="-122"/>
                <a:cs typeface="Calibri" pitchFamily="34" charset="-120"/>
              </a:rPr>
              <a:t>P0036 (Family Medicine), 1 of 3 detectors.  Disposition: WITHHOLD</a:t>
            </a:r>
            <a:endParaRPr lang="en-US" sz="1150" dirty="0"/>
          </a:p>
          <a:p>
            <a:pPr indent="0" marL="0">
              <a:buNone/>
            </a:pPr>
            <a:r>
              <a:rPr lang="en-US" sz="1150" dirty="0">
                <a:solidFill>
                  <a:srgbClr val="1F2937"/>
                </a:solidFill>
                <a:latin typeface="Calibri" pitchFamily="34" charset="0"/>
                <a:ea typeface="Calibri" pitchFamily="34" charset="-122"/>
                <a:cs typeface="Calibri" pitchFamily="34" charset="-120"/>
              </a:rPr>
              <a:t>Failed check: corroborated (2+ detectors or one signal with z &gt;= 8). No case is opened; re-evaluate with next month's data. This was the only non-anomalous provider in the top 15.</a:t>
            </a:r>
            <a:endParaRPr lang="en-US" sz="1150" dirty="0"/>
          </a:p>
        </p:txBody>
      </p:sp>
      <p:sp>
        <p:nvSpPr>
          <p:cNvPr id="12" name="Text 10"/>
          <p:cNvSpPr txBox="1"/>
          <p:nvPr/>
        </p:nvSpPr>
        <p:spPr>
          <a:xfrm>
            <a:off x="6126480" y="1188720"/>
            <a:ext cx="1280160" cy="502920"/>
          </a:xfrm>
          <a:prstGeom prst="rect">
            <a:avLst/>
          </a:prstGeom>
          <a:noFill/>
          <a:ln/>
        </p:spPr>
        <p:txBody>
          <a:bodyPr wrap="square" lIns="0" tIns="0" rIns="0" bIns="0" rtlCol="0" anchor="ctr"/>
          <a:lstStyle/>
          <a:p>
            <a:pPr indent="0" marL="0">
              <a:buNone/>
            </a:pPr>
            <a:r>
              <a:rPr lang="en-US" sz="2400" b="1" dirty="0">
                <a:solidFill>
                  <a:srgbClr val="B2182B"/>
                </a:solidFill>
                <a:latin typeface="Calibri" pitchFamily="34" charset="0"/>
                <a:ea typeface="Calibri" pitchFamily="34" charset="-122"/>
                <a:cs typeface="Calibri" pitchFamily="34" charset="-120"/>
              </a:rPr>
              <a:t>14 / 15</a:t>
            </a:r>
            <a:endParaRPr lang="en-US" sz="2400" dirty="0"/>
          </a:p>
        </p:txBody>
      </p:sp>
      <p:sp>
        <p:nvSpPr>
          <p:cNvPr id="13" name="Text 11"/>
          <p:cNvSpPr txBox="1"/>
          <p:nvPr/>
        </p:nvSpPr>
        <p:spPr>
          <a:xfrm>
            <a:off x="7406640" y="1188720"/>
            <a:ext cx="1371600" cy="685800"/>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designed anomalies in the top 15 (fixed seed)</a:t>
            </a:r>
            <a:endParaRPr lang="en-US" sz="1050" dirty="0"/>
          </a:p>
        </p:txBody>
      </p:sp>
      <p:sp>
        <p:nvSpPr>
          <p:cNvPr id="14" name="Text 12"/>
          <p:cNvSpPr txBox="1"/>
          <p:nvPr/>
        </p:nvSpPr>
        <p:spPr>
          <a:xfrm>
            <a:off x="6126480" y="2084832"/>
            <a:ext cx="1280160" cy="502920"/>
          </a:xfrm>
          <a:prstGeom prst="rect">
            <a:avLst/>
          </a:prstGeom>
          <a:noFill/>
          <a:ln/>
        </p:spPr>
        <p:txBody>
          <a:bodyPr wrap="square" lIns="0" tIns="0" rIns="0" bIns="0" rtlCol="0" anchor="ctr"/>
          <a:lstStyle/>
          <a:p>
            <a:pPr indent="0" marL="0">
              <a:buNone/>
            </a:pPr>
            <a:r>
              <a:rPr lang="en-US" sz="2400" b="1" dirty="0">
                <a:solidFill>
                  <a:srgbClr val="B2182B"/>
                </a:solidFill>
                <a:latin typeface="Calibri" pitchFamily="34" charset="0"/>
                <a:ea typeface="Calibri" pitchFamily="34" charset="-122"/>
                <a:cs typeface="Calibri" pitchFamily="34" charset="-120"/>
              </a:rPr>
              <a:t>0.93</a:t>
            </a:r>
            <a:endParaRPr lang="en-US" sz="2400" dirty="0"/>
          </a:p>
        </p:txBody>
      </p:sp>
      <p:sp>
        <p:nvSpPr>
          <p:cNvPr id="15" name="Text 13"/>
          <p:cNvSpPr txBox="1"/>
          <p:nvPr/>
        </p:nvSpPr>
        <p:spPr>
          <a:xfrm>
            <a:off x="7406640" y="2084832"/>
            <a:ext cx="1371600" cy="685800"/>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median precision@15 over 20 seeds [0.93, 0.95]; p@10 = 1.00</a:t>
            </a:r>
            <a:endParaRPr lang="en-US" sz="1050" dirty="0"/>
          </a:p>
        </p:txBody>
      </p:sp>
      <p:sp>
        <p:nvSpPr>
          <p:cNvPr id="16" name="Text 14"/>
          <p:cNvSpPr txBox="1"/>
          <p:nvPr/>
        </p:nvSpPr>
        <p:spPr>
          <a:xfrm>
            <a:off x="6126480" y="2980944"/>
            <a:ext cx="1280160" cy="502920"/>
          </a:xfrm>
          <a:prstGeom prst="rect">
            <a:avLst/>
          </a:prstGeom>
          <a:noFill/>
          <a:ln/>
        </p:spPr>
        <p:txBody>
          <a:bodyPr wrap="square" lIns="0" tIns="0" rIns="0" bIns="0" rtlCol="0" anchor="ctr"/>
          <a:lstStyle/>
          <a:p>
            <a:pPr indent="0" marL="0">
              <a:buNone/>
            </a:pPr>
            <a:r>
              <a:rPr lang="en-US" sz="2400" b="1" dirty="0">
                <a:solidFill>
                  <a:srgbClr val="1E2761"/>
                </a:solidFill>
                <a:latin typeface="Calibri" pitchFamily="34" charset="0"/>
                <a:ea typeface="Calibri" pitchFamily="34" charset="-122"/>
                <a:cs typeface="Calibri" pitchFamily="34" charset="-120"/>
              </a:rPr>
              <a:t>0.99</a:t>
            </a:r>
            <a:endParaRPr lang="en-US" sz="2400" dirty="0"/>
          </a:p>
        </p:txBody>
      </p:sp>
      <p:sp>
        <p:nvSpPr>
          <p:cNvPr id="17" name="Text 15"/>
          <p:cNvSpPr txBox="1"/>
          <p:nvPr/>
        </p:nvSpPr>
        <p:spPr>
          <a:xfrm>
            <a:off x="7406640" y="2980944"/>
            <a:ext cx="1371600" cy="685800"/>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median average precision over 20 seeds</a:t>
            </a:r>
            <a:endParaRPr lang="en-US" sz="1050" dirty="0"/>
          </a:p>
        </p:txBody>
      </p:sp>
      <p:sp>
        <p:nvSpPr>
          <p:cNvPr id="18" name="Text 16"/>
          <p:cNvSpPr txBox="1"/>
          <p:nvPr/>
        </p:nvSpPr>
        <p:spPr>
          <a:xfrm>
            <a:off x="6126480" y="3877056"/>
            <a:ext cx="1280160" cy="502920"/>
          </a:xfrm>
          <a:prstGeom prst="rect">
            <a:avLst/>
          </a:prstGeom>
          <a:noFill/>
          <a:ln/>
        </p:spPr>
        <p:txBody>
          <a:bodyPr wrap="square" lIns="0" tIns="0" rIns="0" bIns="0" rtlCol="0" anchor="ctr"/>
          <a:lstStyle/>
          <a:p>
            <a:pPr indent="0" marL="0">
              <a:buNone/>
            </a:pPr>
            <a:r>
              <a:rPr lang="en-US" sz="2400" b="1" dirty="0">
                <a:solidFill>
                  <a:srgbClr val="1E2761"/>
                </a:solidFill>
                <a:latin typeface="Calibri" pitchFamily="34" charset="0"/>
                <a:ea typeface="Calibri" pitchFamily="34" charset="-122"/>
                <a:cs typeface="Calibri" pitchFamily="34" charset="-120"/>
              </a:rPr>
              <a:t>~6 s</a:t>
            </a:r>
            <a:endParaRPr lang="en-US" sz="2400" dirty="0"/>
          </a:p>
        </p:txBody>
      </p:sp>
      <p:sp>
        <p:nvSpPr>
          <p:cNvPr id="19" name="Text 17"/>
          <p:cNvSpPr txBox="1"/>
          <p:nvPr/>
        </p:nvSpPr>
        <p:spPr>
          <a:xfrm>
            <a:off x="7406640" y="3877056"/>
            <a:ext cx="1371600" cy="685800"/>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per run; 6 tests; no effect of contamination 0.03-0.10</a:t>
            </a:r>
            <a:endParaRPr lang="en-US" sz="1050" dirty="0"/>
          </a:p>
        </p:txBody>
      </p:sp>
      <p:sp>
        <p:nvSpPr>
          <p:cNvPr id="20" name="Text 18"/>
          <p:cNvSpPr txBox="1"/>
          <p:nvPr/>
        </p:nvSpPr>
        <p:spPr>
          <a:xfrm>
            <a:off x="6126480" y="4754880"/>
            <a:ext cx="2651760" cy="320040"/>
          </a:xfrm>
          <a:prstGeom prst="rect">
            <a:avLst/>
          </a:prstGeom>
          <a:noFill/>
          <a:ln/>
        </p:spPr>
        <p:txBody>
          <a:bodyPr wrap="square" lIns="0" tIns="0" rIns="0" bIns="0" rtlCol="0" anchor="ctr"/>
          <a:lstStyle/>
          <a:p>
            <a:pPr indent="0" marL="0">
              <a:buNone/>
            </a:pPr>
            <a:r>
              <a:rPr lang="en-US" sz="900" dirty="0">
                <a:solidFill>
                  <a:srgbClr val="595959"/>
                </a:solidFill>
                <a:latin typeface="Calibri" pitchFamily="34" charset="0"/>
                <a:ea typeface="Calibri" pitchFamily="34" charset="-122"/>
                <a:cs typeface="Calibri" pitchFamily="34" charset="-120"/>
              </a:rPr>
              <a:t>A wiring check on designed anomalies, not production accuracy; real claims need calibration on audited outcomes.</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5212080" y="914400"/>
            <a:ext cx="3474720" cy="3474720"/>
          </a:xfrm>
          <a:prstGeom prst="ellipse">
            <a:avLst/>
          </a:prstGeom>
          <a:ln w="12700">
            <a:solidFill>
              <a:srgbClr val="4C5B9A"/>
            </a:solidFill>
            <a:prstDash val="solid"/>
          </a:ln>
        </p:spPr>
      </p:sp>
      <p:sp>
        <p:nvSpPr>
          <p:cNvPr id="3" name="Shape 1"/>
          <p:cNvSpPr/>
          <p:nvPr/>
        </p:nvSpPr>
        <p:spPr>
          <a:xfrm>
            <a:off x="5802782" y="1505102"/>
            <a:ext cx="2293315" cy="2293315"/>
          </a:xfrm>
          <a:prstGeom prst="ellipse">
            <a:avLst/>
          </a:prstGeom>
          <a:ln w="12700">
            <a:solidFill>
              <a:srgbClr val="4C5B9A"/>
            </a:solidFill>
            <a:prstDash val="solid"/>
          </a:ln>
        </p:spPr>
      </p:sp>
      <p:sp>
        <p:nvSpPr>
          <p:cNvPr id="4" name="Shape 2"/>
          <p:cNvSpPr/>
          <p:nvPr/>
        </p:nvSpPr>
        <p:spPr>
          <a:xfrm>
            <a:off x="6376111" y="2078431"/>
            <a:ext cx="1146658" cy="1146658"/>
          </a:xfrm>
          <a:prstGeom prst="ellipse">
            <a:avLst/>
          </a:prstGeom>
          <a:ln w="12700">
            <a:solidFill>
              <a:srgbClr val="4C5B9A"/>
            </a:solidFill>
            <a:prstDash val="solid"/>
          </a:ln>
        </p:spPr>
      </p:sp>
      <p:sp>
        <p:nvSpPr>
          <p:cNvPr id="5" name="Shape 3"/>
          <p:cNvSpPr/>
          <p:nvPr/>
        </p:nvSpPr>
        <p:spPr>
          <a:xfrm>
            <a:off x="7644384" y="1792224"/>
            <a:ext cx="164592" cy="164592"/>
          </a:xfrm>
          <a:prstGeom prst="ellipse">
            <a:avLst/>
          </a:prstGeom>
          <a:solidFill>
            <a:srgbClr val="B2182B"/>
          </a:solidFill>
          <a:ln w="12700">
            <a:solidFill>
              <a:srgbClr val="B2182B"/>
            </a:solidFill>
            <a:prstDash val="solid"/>
          </a:ln>
        </p:spPr>
      </p:sp>
      <p:sp>
        <p:nvSpPr>
          <p:cNvPr id="6" name="Text 4"/>
          <p:cNvSpPr txBox="1"/>
          <p:nvPr/>
        </p:nvSpPr>
        <p:spPr>
          <a:xfrm>
            <a:off x="548640" y="548640"/>
            <a:ext cx="5394960" cy="54864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Takeaways</a:t>
            </a:r>
            <a:endParaRPr lang="en-US" sz="3000" dirty="0"/>
          </a:p>
        </p:txBody>
      </p:sp>
      <p:sp>
        <p:nvSpPr>
          <p:cNvPr id="7" name="Text 5"/>
          <p:cNvSpPr txBox="1"/>
          <p:nvPr/>
        </p:nvSpPr>
        <p:spPr>
          <a:xfrm>
            <a:off x="548640" y="1234440"/>
            <a:ext cx="5303520" cy="219456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CADCFC"/>
                </a:solidFill>
                <a:latin typeface="Calibri" pitchFamily="34" charset="0"/>
                <a:ea typeface="Calibri" pitchFamily="34" charset="-122"/>
                <a:cs typeface="Calibri" pitchFamily="34" charset="-120"/>
              </a:rPr>
              <a:t>Payment integrity is moving from rules to models to reasoning agents</a:t>
            </a:r>
            <a:endParaRPr lang="en-US" sz="1500" dirty="0"/>
          </a:p>
          <a:p>
            <a:pPr marL="342900" indent="-342900">
              <a:spcAft>
                <a:spcPts val="600"/>
              </a:spcAft>
              <a:buSzPct val="100000"/>
              <a:buChar char="•"/>
            </a:pPr>
            <a:r>
              <a:rPr lang="en-US" sz="1500" dirty="0">
                <a:solidFill>
                  <a:srgbClr val="CADCFC"/>
                </a:solidFill>
                <a:latin typeface="Calibri" pitchFamily="34" charset="0"/>
                <a:ea typeface="Calibri" pitchFamily="34" charset="-122"/>
                <a:cs typeface="Calibri" pitchFamily="34" charset="-120"/>
              </a:rPr>
              <a:t>The winners will explain every flag, measure every model, and give agents a critic and a withhold path</a:t>
            </a:r>
            <a:endParaRPr lang="en-US" sz="1500" dirty="0"/>
          </a:p>
          <a:p>
            <a:pPr marL="342900" indent="-342900">
              <a:spcAft>
                <a:spcPts val="600"/>
              </a:spcAft>
              <a:buSzPct val="100000"/>
              <a:buChar char="•"/>
            </a:pPr>
            <a:r>
              <a:rPr lang="en-US" sz="1500" dirty="0">
                <a:solidFill>
                  <a:srgbClr val="CADCFC"/>
                </a:solidFill>
                <a:latin typeface="Calibri" pitchFamily="34" charset="0"/>
                <a:ea typeface="Calibri" pitchFamily="34" charset="-122"/>
                <a:cs typeface="Calibri" pitchFamily="34" charset="-120"/>
              </a:rPr>
              <a:t>A useful anomaly radar fits in one Python file; the hard part is calibration and governance</a:t>
            </a:r>
            <a:endParaRPr lang="en-US" sz="1500" dirty="0"/>
          </a:p>
        </p:txBody>
      </p:sp>
      <p:sp>
        <p:nvSpPr>
          <p:cNvPr id="8" name="Text 6"/>
          <p:cNvSpPr txBox="1"/>
          <p:nvPr/>
        </p:nvSpPr>
        <p:spPr>
          <a:xfrm>
            <a:off x="548640" y="3840480"/>
            <a:ext cx="5852160" cy="32004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Report, code, slides and video: github.com/StatGuyOU/cotiviti-intern-assessment</a:t>
            </a:r>
            <a:endParaRPr lang="en-US" sz="1200" dirty="0"/>
          </a:p>
        </p:txBody>
      </p:sp>
      <p:sp>
        <p:nvSpPr>
          <p:cNvPr id="9" name="Text 7"/>
          <p:cNvSpPr txBox="1"/>
          <p:nvPr/>
        </p:nvSpPr>
        <p:spPr>
          <a:xfrm>
            <a:off x="548640" y="4206240"/>
            <a:ext cx="585216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Thank you  |  Penghua Wang</a:t>
            </a:r>
            <a:endParaRPr lang="en-US" sz="1400" dirty="0"/>
          </a:p>
        </p:txBody>
      </p:sp>
      <p:sp>
        <p:nvSpPr>
          <p:cNvPr id="10" name="Text 8"/>
          <p:cNvSpPr txBox="1"/>
          <p:nvPr/>
        </p:nvSpPr>
        <p:spPr>
          <a:xfrm>
            <a:off x="548640" y="4526280"/>
            <a:ext cx="6035040" cy="292608"/>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Ph.D. Candidate, Data Science and Analytics, University of Oklahoma  |  M.S. Statistics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Pattern Recognition for Payment Integrity</dc:title>
  <dc:subject>PptxGenJS Presentation</dc:subject>
  <dc:creator>Penghua Wang</dc:creator>
  <cp:lastModifiedBy>Penghua Wang</cp:lastModifiedBy>
  <cp:revision>1</cp:revision>
  <dcterms:created xsi:type="dcterms:W3CDTF">2026-09-17T15:17:36Z</dcterms:created>
  <dcterms:modified xsi:type="dcterms:W3CDTF">2026-09-17T15:17:36Z</dcterms:modified>
</cp:coreProperties>
</file>